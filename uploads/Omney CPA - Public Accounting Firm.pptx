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56" r:id="rId5"/>
    <p:sldId id="261" r:id="rId6"/>
    <p:sldId id="275" r:id="rId7"/>
    <p:sldId id="276" r:id="rId8"/>
    <p:sldId id="277" r:id="rId9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57C"/>
    <a:srgbClr val="1F396C"/>
    <a:srgbClr val="666F82"/>
    <a:srgbClr val="8F8F8F"/>
    <a:srgbClr val="1B4A6F"/>
    <a:srgbClr val="92BAC5"/>
    <a:srgbClr val="7B7DA7"/>
    <a:srgbClr val="7399C5"/>
    <a:srgbClr val="253969"/>
    <a:srgbClr val="003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9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Darji" userId="5ae6e64c-f67f-4770-ae9b-218f3307418b" providerId="ADAL" clId="{14156BF5-C66C-4AA2-8D0C-18A4AC1C30D0}"/>
    <pc:docChg chg="custSel modSld">
      <pc:chgData name="Kevin Darji" userId="5ae6e64c-f67f-4770-ae9b-218f3307418b" providerId="ADAL" clId="{14156BF5-C66C-4AA2-8D0C-18A4AC1C30D0}" dt="2025-02-24T13:10:05.902" v="60" actId="20577"/>
      <pc:docMkLst>
        <pc:docMk/>
      </pc:docMkLst>
      <pc:sldChg chg="addSp delSp modSp mod">
        <pc:chgData name="Kevin Darji" userId="5ae6e64c-f67f-4770-ae9b-218f3307418b" providerId="ADAL" clId="{14156BF5-C66C-4AA2-8D0C-18A4AC1C30D0}" dt="2025-02-24T13:09:39.055" v="39" actId="6549"/>
        <pc:sldMkLst>
          <pc:docMk/>
          <pc:sldMk cId="1738536630" sldId="275"/>
        </pc:sldMkLst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2" creationId="{880019EA-4C1C-2B9F-1988-49A78194FD07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3" creationId="{4FAFBAF0-13B3-56CD-6CE0-C358AD08F3FE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4" creationId="{93CA964F-7881-A56D-BAE9-797451BC611C}"/>
          </ac:spMkLst>
        </pc:spChg>
        <pc:spChg chg="add mod">
          <ac:chgData name="Kevin Darji" userId="5ae6e64c-f67f-4770-ae9b-218f3307418b" providerId="ADAL" clId="{14156BF5-C66C-4AA2-8D0C-18A4AC1C30D0}" dt="2025-02-24T13:09:39.055" v="39" actId="6549"/>
          <ac:spMkLst>
            <pc:docMk/>
            <pc:sldMk cId="1738536630" sldId="275"/>
            <ac:spMk id="6" creationId="{0D13BF5D-C1AD-7B94-A703-53D106B0BD9D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7" creationId="{75AB6AB2-C135-EF65-0C75-E79CE6D62C43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8" creationId="{7CD37496-DE0B-CCFC-45D9-6529F9A8641F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9" creationId="{7B70BBDC-70F4-BD7E-3E98-57B7900C1298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11" creationId="{079B6834-43F4-23D8-C7AD-E2A85B24E6C4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12" creationId="{1D79BD5F-DE00-C29F-F5FB-41DD7EB40079}"/>
          </ac:spMkLst>
        </pc:spChg>
        <pc:spChg chg="add mod">
          <ac:chgData name="Kevin Darji" userId="5ae6e64c-f67f-4770-ae9b-218f3307418b" providerId="ADAL" clId="{14156BF5-C66C-4AA2-8D0C-18A4AC1C30D0}" dt="2025-02-24T12:30:31.298" v="2"/>
          <ac:spMkLst>
            <pc:docMk/>
            <pc:sldMk cId="1738536630" sldId="275"/>
            <ac:spMk id="13" creationId="{F6D895A3-3FAC-71C2-EEB0-69EC12B7789F}"/>
          </ac:spMkLst>
        </pc:spChg>
      </pc:sldChg>
      <pc:sldChg chg="modSp mod">
        <pc:chgData name="Kevin Darji" userId="5ae6e64c-f67f-4770-ae9b-218f3307418b" providerId="ADAL" clId="{14156BF5-C66C-4AA2-8D0C-18A4AC1C30D0}" dt="2025-02-24T12:32:22.297" v="20"/>
        <pc:sldMkLst>
          <pc:docMk/>
          <pc:sldMk cId="2422948411" sldId="276"/>
        </pc:sldMkLst>
        <pc:spChg chg="mod">
          <ac:chgData name="Kevin Darji" userId="5ae6e64c-f67f-4770-ae9b-218f3307418b" providerId="ADAL" clId="{14156BF5-C66C-4AA2-8D0C-18A4AC1C30D0}" dt="2025-02-24T12:32:22.297" v="20"/>
          <ac:spMkLst>
            <pc:docMk/>
            <pc:sldMk cId="2422948411" sldId="276"/>
            <ac:spMk id="14" creationId="{3EF2D064-408B-4AF3-9A05-2DD1656D2A35}"/>
          </ac:spMkLst>
        </pc:spChg>
      </pc:sldChg>
      <pc:sldChg chg="modSp mod">
        <pc:chgData name="Kevin Darji" userId="5ae6e64c-f67f-4770-ae9b-218f3307418b" providerId="ADAL" clId="{14156BF5-C66C-4AA2-8D0C-18A4AC1C30D0}" dt="2025-02-24T13:10:05.902" v="60" actId="20577"/>
        <pc:sldMkLst>
          <pc:docMk/>
          <pc:sldMk cId="318827867" sldId="277"/>
        </pc:sldMkLst>
        <pc:spChg chg="mod">
          <ac:chgData name="Kevin Darji" userId="5ae6e64c-f67f-4770-ae9b-218f3307418b" providerId="ADAL" clId="{14156BF5-C66C-4AA2-8D0C-18A4AC1C30D0}" dt="2025-02-24T13:10:05.902" v="60" actId="20577"/>
          <ac:spMkLst>
            <pc:docMk/>
            <pc:sldMk cId="318827867" sldId="277"/>
            <ac:spMk id="20" creationId="{20875465-1804-4205-B4AB-BFE890AF270B}"/>
          </ac:spMkLst>
        </pc:spChg>
      </pc:sldChg>
    </pc:docChg>
  </pc:docChgLst>
  <pc:docChgLst>
    <pc:chgData name="Kevin Darji" userId="5ae6e64c-f67f-4770-ae9b-218f3307418b" providerId="ADAL" clId="{2BA24A7D-3AE8-4E34-A10D-23C63CFDC3D5}"/>
    <pc:docChg chg="custSel modSld">
      <pc:chgData name="Kevin Darji" userId="5ae6e64c-f67f-4770-ae9b-218f3307418b" providerId="ADAL" clId="{2BA24A7D-3AE8-4E34-A10D-23C63CFDC3D5}" dt="2025-08-12T10:50:28.582" v="14" actId="1076"/>
      <pc:docMkLst>
        <pc:docMk/>
      </pc:docMkLst>
      <pc:sldChg chg="modSp mod">
        <pc:chgData name="Kevin Darji" userId="5ae6e64c-f67f-4770-ae9b-218f3307418b" providerId="ADAL" clId="{2BA24A7D-3AE8-4E34-A10D-23C63CFDC3D5}" dt="2025-08-12T10:49:26.315" v="10" actId="6549"/>
        <pc:sldMkLst>
          <pc:docMk/>
          <pc:sldMk cId="2418965620" sldId="261"/>
        </pc:sldMkLst>
        <pc:spChg chg="mod">
          <ac:chgData name="Kevin Darji" userId="5ae6e64c-f67f-4770-ae9b-218f3307418b" providerId="ADAL" clId="{2BA24A7D-3AE8-4E34-A10D-23C63CFDC3D5}" dt="2025-08-12T10:49:26.315" v="10" actId="6549"/>
          <ac:spMkLst>
            <pc:docMk/>
            <pc:sldMk cId="2418965620" sldId="261"/>
            <ac:spMk id="11" creationId="{0D81AE08-6553-458C-8A68-AED3D3E64C20}"/>
          </ac:spMkLst>
        </pc:spChg>
      </pc:sldChg>
      <pc:sldChg chg="modSp mod">
        <pc:chgData name="Kevin Darji" userId="5ae6e64c-f67f-4770-ae9b-218f3307418b" providerId="ADAL" clId="{2BA24A7D-3AE8-4E34-A10D-23C63CFDC3D5}" dt="2025-08-12T10:49:42.803" v="11"/>
        <pc:sldMkLst>
          <pc:docMk/>
          <pc:sldMk cId="1738536630" sldId="275"/>
        </pc:sldMkLst>
        <pc:spChg chg="mod">
          <ac:chgData name="Kevin Darji" userId="5ae6e64c-f67f-4770-ae9b-218f3307418b" providerId="ADAL" clId="{2BA24A7D-3AE8-4E34-A10D-23C63CFDC3D5}" dt="2025-08-12T10:49:42.803" v="11"/>
          <ac:spMkLst>
            <pc:docMk/>
            <pc:sldMk cId="1738536630" sldId="275"/>
            <ac:spMk id="6" creationId="{0D13BF5D-C1AD-7B94-A703-53D106B0BD9D}"/>
          </ac:spMkLst>
        </pc:spChg>
      </pc:sldChg>
      <pc:sldChg chg="addSp delSp modSp mod">
        <pc:chgData name="Kevin Darji" userId="5ae6e64c-f67f-4770-ae9b-218f3307418b" providerId="ADAL" clId="{2BA24A7D-3AE8-4E34-A10D-23C63CFDC3D5}" dt="2025-08-12T10:50:28.582" v="14" actId="1076"/>
        <pc:sldMkLst>
          <pc:docMk/>
          <pc:sldMk cId="318827867" sldId="277"/>
        </pc:sldMkLst>
        <pc:spChg chg="add mod">
          <ac:chgData name="Kevin Darji" userId="5ae6e64c-f67f-4770-ae9b-218f3307418b" providerId="ADAL" clId="{2BA24A7D-3AE8-4E34-A10D-23C63CFDC3D5}" dt="2025-08-12T10:50:28.582" v="14" actId="1076"/>
          <ac:spMkLst>
            <pc:docMk/>
            <pc:sldMk cId="318827867" sldId="277"/>
            <ac:spMk id="15" creationId="{84AC9902-1E67-4B56-8714-1F6A6D454E38}"/>
          </ac:spMkLst>
        </pc:spChg>
        <pc:spChg chg="del">
          <ac:chgData name="Kevin Darji" userId="5ae6e64c-f67f-4770-ae9b-218f3307418b" providerId="ADAL" clId="{2BA24A7D-3AE8-4E34-A10D-23C63CFDC3D5}" dt="2025-08-12T10:50:24.287" v="12" actId="478"/>
          <ac:spMkLst>
            <pc:docMk/>
            <pc:sldMk cId="318827867" sldId="277"/>
            <ac:spMk id="20" creationId="{20875465-1804-4205-B4AB-BFE890AF270B}"/>
          </ac:spMkLst>
        </pc:spChg>
      </pc:sldChg>
    </pc:docChg>
  </pc:docChgLst>
  <pc:docChgLst>
    <pc:chgData name="Kevin Darji" userId="5ae6e64c-f67f-4770-ae9b-218f3307418b" providerId="ADAL" clId="{9D76C46E-A8FB-4ADE-BA91-3BB71F4B8A40}"/>
    <pc:docChg chg="undo custSel modSld">
      <pc:chgData name="Kevin Darji" userId="5ae6e64c-f67f-4770-ae9b-218f3307418b" providerId="ADAL" clId="{9D76C46E-A8FB-4ADE-BA91-3BB71F4B8A40}" dt="2025-04-03T06:54:21.561" v="156" actId="20577"/>
      <pc:docMkLst>
        <pc:docMk/>
      </pc:docMkLst>
      <pc:sldChg chg="addSp delSp modSp mod">
        <pc:chgData name="Kevin Darji" userId="5ae6e64c-f67f-4770-ae9b-218f3307418b" providerId="ADAL" clId="{9D76C46E-A8FB-4ADE-BA91-3BB71F4B8A40}" dt="2025-04-03T06:25:33.049" v="149" actId="20577"/>
        <pc:sldMkLst>
          <pc:docMk/>
          <pc:sldMk cId="3178336625" sldId="256"/>
        </pc:sldMkLst>
        <pc:spChg chg="add mod">
          <ac:chgData name="Kevin Darji" userId="5ae6e64c-f67f-4770-ae9b-218f3307418b" providerId="ADAL" clId="{9D76C46E-A8FB-4ADE-BA91-3BB71F4B8A40}" dt="2025-04-03T06:25:17.202" v="108" actId="1076"/>
          <ac:spMkLst>
            <pc:docMk/>
            <pc:sldMk cId="3178336625" sldId="256"/>
            <ac:spMk id="2" creationId="{BA620E08-B049-068A-062A-EDEB69511FB9}"/>
          </ac:spMkLst>
        </pc:spChg>
        <pc:spChg chg="add mod">
          <ac:chgData name="Kevin Darji" userId="5ae6e64c-f67f-4770-ae9b-218f3307418b" providerId="ADAL" clId="{9D76C46E-A8FB-4ADE-BA91-3BB71F4B8A40}" dt="2025-04-03T06:25:17.202" v="108" actId="1076"/>
          <ac:spMkLst>
            <pc:docMk/>
            <pc:sldMk cId="3178336625" sldId="256"/>
            <ac:spMk id="3" creationId="{5D8C04EF-D461-CD31-BD86-29D25BBB6083}"/>
          </ac:spMkLst>
        </pc:spChg>
        <pc:spChg chg="add mod">
          <ac:chgData name="Kevin Darji" userId="5ae6e64c-f67f-4770-ae9b-218f3307418b" providerId="ADAL" clId="{9D76C46E-A8FB-4ADE-BA91-3BB71F4B8A40}" dt="2025-04-03T06:25:14.291" v="107" actId="571"/>
          <ac:spMkLst>
            <pc:docMk/>
            <pc:sldMk cId="3178336625" sldId="256"/>
            <ac:spMk id="4" creationId="{FE243240-945C-6922-64E8-D7AE31A44712}"/>
          </ac:spMkLst>
        </pc:spChg>
        <pc:spChg chg="add mod">
          <ac:chgData name="Kevin Darji" userId="5ae6e64c-f67f-4770-ae9b-218f3307418b" providerId="ADAL" clId="{9D76C46E-A8FB-4ADE-BA91-3BB71F4B8A40}" dt="2025-04-03T06:25:19.052" v="110" actId="571"/>
          <ac:spMkLst>
            <pc:docMk/>
            <pc:sldMk cId="3178336625" sldId="256"/>
            <ac:spMk id="5" creationId="{83E3005C-18D0-10FF-15BB-B444F9A54BC3}"/>
          </ac:spMkLst>
        </pc:spChg>
        <pc:spChg chg="add mod">
          <ac:chgData name="Kevin Darji" userId="5ae6e64c-f67f-4770-ae9b-218f3307418b" providerId="ADAL" clId="{9D76C46E-A8FB-4ADE-BA91-3BB71F4B8A40}" dt="2025-04-03T06:25:19.052" v="110" actId="571"/>
          <ac:spMkLst>
            <pc:docMk/>
            <pc:sldMk cId="3178336625" sldId="256"/>
            <ac:spMk id="6" creationId="{2BA9FC01-3401-9A82-5435-2614CE035986}"/>
          </ac:spMkLst>
        </pc:spChg>
        <pc:spChg chg="mod">
          <ac:chgData name="Kevin Darji" userId="5ae6e64c-f67f-4770-ae9b-218f3307418b" providerId="ADAL" clId="{9D76C46E-A8FB-4ADE-BA91-3BB71F4B8A40}" dt="2025-04-02T12:34:40.594" v="89" actId="1076"/>
          <ac:spMkLst>
            <pc:docMk/>
            <pc:sldMk cId="3178336625" sldId="256"/>
            <ac:spMk id="7" creationId="{00000000-0000-0000-0000-000000000000}"/>
          </ac:spMkLst>
        </pc:spChg>
        <pc:spChg chg="mod">
          <ac:chgData name="Kevin Darji" userId="5ae6e64c-f67f-4770-ae9b-218f3307418b" providerId="ADAL" clId="{9D76C46E-A8FB-4ADE-BA91-3BB71F4B8A40}" dt="2025-04-02T12:34:39.634" v="88" actId="1076"/>
          <ac:spMkLst>
            <pc:docMk/>
            <pc:sldMk cId="3178336625" sldId="256"/>
            <ac:spMk id="8" creationId="{00000000-0000-0000-0000-000000000000}"/>
          </ac:spMkLst>
        </pc:spChg>
        <pc:spChg chg="del mod">
          <ac:chgData name="Kevin Darji" userId="5ae6e64c-f67f-4770-ae9b-218f3307418b" providerId="ADAL" clId="{9D76C46E-A8FB-4ADE-BA91-3BB71F4B8A40}" dt="2025-04-02T12:34:33.440" v="85" actId="478"/>
          <ac:spMkLst>
            <pc:docMk/>
            <pc:sldMk cId="3178336625" sldId="256"/>
            <ac:spMk id="11" creationId="{00000000-0000-0000-0000-000000000000}"/>
          </ac:spMkLst>
        </pc:spChg>
        <pc:spChg chg="add mod">
          <ac:chgData name="Kevin Darji" userId="5ae6e64c-f67f-4770-ae9b-218f3307418b" providerId="ADAL" clId="{9D76C46E-A8FB-4ADE-BA91-3BB71F4B8A40}" dt="2025-04-03T06:25:19.052" v="110" actId="571"/>
          <ac:spMkLst>
            <pc:docMk/>
            <pc:sldMk cId="3178336625" sldId="256"/>
            <ac:spMk id="11" creationId="{466E737A-7780-9FB3-877D-033CE21C1B66}"/>
          </ac:spMkLst>
        </pc:spChg>
        <pc:spChg chg="del mod">
          <ac:chgData name="Kevin Darji" userId="5ae6e64c-f67f-4770-ae9b-218f3307418b" providerId="ADAL" clId="{9D76C46E-A8FB-4ADE-BA91-3BB71F4B8A40}" dt="2025-04-02T12:34:33.440" v="85" actId="478"/>
          <ac:spMkLst>
            <pc:docMk/>
            <pc:sldMk cId="3178336625" sldId="256"/>
            <ac:spMk id="12" creationId="{00000000-0000-0000-0000-000000000000}"/>
          </ac:spMkLst>
        </pc:spChg>
        <pc:spChg chg="add mod">
          <ac:chgData name="Kevin Darji" userId="5ae6e64c-f67f-4770-ae9b-218f3307418b" providerId="ADAL" clId="{9D76C46E-A8FB-4ADE-BA91-3BB71F4B8A40}" dt="2025-04-03T06:25:20.876" v="112" actId="571"/>
          <ac:spMkLst>
            <pc:docMk/>
            <pc:sldMk cId="3178336625" sldId="256"/>
            <ac:spMk id="12" creationId="{D61A033D-524E-F50C-765B-CAB77E4881D8}"/>
          </ac:spMkLst>
        </pc:spChg>
        <pc:spChg chg="add mod">
          <ac:chgData name="Kevin Darji" userId="5ae6e64c-f67f-4770-ae9b-218f3307418b" providerId="ADAL" clId="{9D76C46E-A8FB-4ADE-BA91-3BB71F4B8A40}" dt="2025-04-03T06:25:20.876" v="112" actId="571"/>
          <ac:spMkLst>
            <pc:docMk/>
            <pc:sldMk cId="3178336625" sldId="256"/>
            <ac:spMk id="13" creationId="{37E9E4DC-87AE-5CD6-CFF3-F30B7B9AD7EB}"/>
          </ac:spMkLst>
        </pc:spChg>
        <pc:spChg chg="add mod">
          <ac:chgData name="Kevin Darji" userId="5ae6e64c-f67f-4770-ae9b-218f3307418b" providerId="ADAL" clId="{9D76C46E-A8FB-4ADE-BA91-3BB71F4B8A40}" dt="2025-04-03T06:25:20.876" v="112" actId="571"/>
          <ac:spMkLst>
            <pc:docMk/>
            <pc:sldMk cId="3178336625" sldId="256"/>
            <ac:spMk id="14" creationId="{892CD7EE-B92E-C879-C9B5-8ACA05843E58}"/>
          </ac:spMkLst>
        </pc:spChg>
        <pc:spChg chg="add mod">
          <ac:chgData name="Kevin Darji" userId="5ae6e64c-f67f-4770-ae9b-218f3307418b" providerId="ADAL" clId="{9D76C46E-A8FB-4ADE-BA91-3BB71F4B8A40}" dt="2025-04-03T06:25:29.066" v="128" actId="20577"/>
          <ac:spMkLst>
            <pc:docMk/>
            <pc:sldMk cId="3178336625" sldId="256"/>
            <ac:spMk id="15" creationId="{D6DC78F3-6811-E5EE-F2E9-76639027AC86}"/>
          </ac:spMkLst>
        </pc:spChg>
        <pc:spChg chg="add mod">
          <ac:chgData name="Kevin Darji" userId="5ae6e64c-f67f-4770-ae9b-218f3307418b" providerId="ADAL" clId="{9D76C46E-A8FB-4ADE-BA91-3BB71F4B8A40}" dt="2025-04-03T06:25:33.049" v="149" actId="20577"/>
          <ac:spMkLst>
            <pc:docMk/>
            <pc:sldMk cId="3178336625" sldId="256"/>
            <ac:spMk id="16" creationId="{FADB35FA-1280-15F9-CC17-0D04AF9C4F13}"/>
          </ac:spMkLst>
        </pc:spChg>
      </pc:sldChg>
      <pc:sldChg chg="modSp mod">
        <pc:chgData name="Kevin Darji" userId="5ae6e64c-f67f-4770-ae9b-218f3307418b" providerId="ADAL" clId="{9D76C46E-A8FB-4ADE-BA91-3BB71F4B8A40}" dt="2025-04-03T06:54:21.561" v="156" actId="20577"/>
        <pc:sldMkLst>
          <pc:docMk/>
          <pc:sldMk cId="2418965620" sldId="261"/>
        </pc:sldMkLst>
        <pc:spChg chg="mod">
          <ac:chgData name="Kevin Darji" userId="5ae6e64c-f67f-4770-ae9b-218f3307418b" providerId="ADAL" clId="{9D76C46E-A8FB-4ADE-BA91-3BB71F4B8A40}" dt="2025-04-03T06:54:21.561" v="156" actId="20577"/>
          <ac:spMkLst>
            <pc:docMk/>
            <pc:sldMk cId="2418965620" sldId="261"/>
            <ac:spMk id="11" creationId="{0D81AE08-6553-458C-8A68-AED3D3E64C20}"/>
          </ac:spMkLst>
        </pc:spChg>
      </pc:sldChg>
      <pc:sldChg chg="modSp mod">
        <pc:chgData name="Kevin Darji" userId="5ae6e64c-f67f-4770-ae9b-218f3307418b" providerId="ADAL" clId="{9D76C46E-A8FB-4ADE-BA91-3BB71F4B8A40}" dt="2025-04-02T12:34:27.493" v="84"/>
        <pc:sldMkLst>
          <pc:docMk/>
          <pc:sldMk cId="1738536630" sldId="275"/>
        </pc:sldMkLst>
        <pc:spChg chg="mod">
          <ac:chgData name="Kevin Darji" userId="5ae6e64c-f67f-4770-ae9b-218f3307418b" providerId="ADAL" clId="{9D76C46E-A8FB-4ADE-BA91-3BB71F4B8A40}" dt="2025-04-02T12:34:27.493" v="84"/>
          <ac:spMkLst>
            <pc:docMk/>
            <pc:sldMk cId="1738536630" sldId="275"/>
            <ac:spMk id="6" creationId="{0D13BF5D-C1AD-7B94-A703-53D106B0BD9D}"/>
          </ac:spMkLst>
        </pc:spChg>
      </pc:sldChg>
      <pc:sldChg chg="modSp mod">
        <pc:chgData name="Kevin Darji" userId="5ae6e64c-f67f-4770-ae9b-218f3307418b" providerId="ADAL" clId="{9D76C46E-A8FB-4ADE-BA91-3BB71F4B8A40}" dt="2025-04-02T12:35:12.239" v="105" actId="20577"/>
        <pc:sldMkLst>
          <pc:docMk/>
          <pc:sldMk cId="318827867" sldId="277"/>
        </pc:sldMkLst>
        <pc:spChg chg="mod">
          <ac:chgData name="Kevin Darji" userId="5ae6e64c-f67f-4770-ae9b-218f3307418b" providerId="ADAL" clId="{9D76C46E-A8FB-4ADE-BA91-3BB71F4B8A40}" dt="2025-04-02T12:35:12.239" v="105" actId="20577"/>
          <ac:spMkLst>
            <pc:docMk/>
            <pc:sldMk cId="318827867" sldId="277"/>
            <ac:spMk id="14" creationId="{02A5CB70-B7FF-408C-8B94-5BA42FB4E6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6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2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9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4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1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2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9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7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00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/>
          <p:cNvSpPr/>
          <p:nvPr userDrawn="1"/>
        </p:nvSpPr>
        <p:spPr>
          <a:xfrm>
            <a:off x="0" y="1231392"/>
            <a:ext cx="6858000" cy="7912947"/>
          </a:xfrm>
          <a:custGeom>
            <a:avLst/>
            <a:gdLst/>
            <a:ahLst/>
            <a:cxnLst/>
            <a:rect l="l" t="t" r="r" b="b"/>
            <a:pathLst>
              <a:path w="12192000" h="5934709">
                <a:moveTo>
                  <a:pt x="12192000" y="0"/>
                </a:moveTo>
                <a:lnTo>
                  <a:pt x="0" y="0"/>
                </a:lnTo>
                <a:lnTo>
                  <a:pt x="0" y="5934456"/>
                </a:lnTo>
                <a:lnTo>
                  <a:pt x="12192000" y="5934456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E4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2D4CDE44-D0E3-D6BB-F4FC-A81688368139}"/>
              </a:ext>
            </a:extLst>
          </p:cNvPr>
          <p:cNvSpPr/>
          <p:nvPr userDrawn="1"/>
        </p:nvSpPr>
        <p:spPr>
          <a:xfrm>
            <a:off x="5834744" y="191343"/>
            <a:ext cx="869758" cy="843653"/>
          </a:xfrm>
          <a:prstGeom prst="rect">
            <a:avLst/>
          </a:prstGeom>
          <a:solidFill>
            <a:srgbClr val="5E7C9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rtlCol="0" anchor="t" anchorCtr="0"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1867" b="1" dirty="0">
                <a:solidFill>
                  <a:schemeClr val="bg1"/>
                </a:solidFill>
              </a:rPr>
              <a:t>Omney CPA</a:t>
            </a:r>
          </a:p>
        </p:txBody>
      </p:sp>
    </p:spTree>
    <p:extLst>
      <p:ext uri="{BB962C8B-B14F-4D97-AF65-F5344CB8AC3E}">
        <p14:creationId xmlns:p14="http://schemas.microsoft.com/office/powerpoint/2010/main" val="16916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B017-4428-4DA7-9107-012E1C726D22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7B5C0-7811-482F-885F-2A41C9973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1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kevin@omneyservic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/>
          <p:nvPr/>
        </p:nvSpPr>
        <p:spPr>
          <a:xfrm>
            <a:off x="3640328" y="1231139"/>
            <a:ext cx="3217672" cy="4737100"/>
          </a:xfrm>
          <a:custGeom>
            <a:avLst/>
            <a:gdLst/>
            <a:ahLst/>
            <a:cxnLst/>
            <a:rect l="l" t="t" r="r" b="b"/>
            <a:pathLst>
              <a:path w="5935980" h="3552825">
                <a:moveTo>
                  <a:pt x="0" y="3552443"/>
                </a:moveTo>
                <a:lnTo>
                  <a:pt x="5935980" y="3552443"/>
                </a:lnTo>
                <a:lnTo>
                  <a:pt x="5935980" y="0"/>
                </a:lnTo>
                <a:lnTo>
                  <a:pt x="0" y="0"/>
                </a:lnTo>
                <a:lnTo>
                  <a:pt x="0" y="3552443"/>
                </a:lnTo>
                <a:close/>
              </a:path>
            </a:pathLst>
          </a:custGeom>
          <a:solidFill>
            <a:srgbClr val="AEBAC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4"/>
          <p:cNvSpPr/>
          <p:nvPr/>
        </p:nvSpPr>
        <p:spPr>
          <a:xfrm>
            <a:off x="0" y="1231393"/>
            <a:ext cx="3660987" cy="4737100"/>
          </a:xfrm>
          <a:custGeom>
            <a:avLst/>
            <a:gdLst/>
            <a:ahLst/>
            <a:cxnLst/>
            <a:rect l="l" t="t" r="r" b="b"/>
            <a:pathLst>
              <a:path w="6269990" h="3552825">
                <a:moveTo>
                  <a:pt x="0" y="3552444"/>
                </a:moveTo>
                <a:lnTo>
                  <a:pt x="6269736" y="3552444"/>
                </a:lnTo>
                <a:lnTo>
                  <a:pt x="6269736" y="0"/>
                </a:lnTo>
                <a:lnTo>
                  <a:pt x="0" y="0"/>
                </a:lnTo>
                <a:lnTo>
                  <a:pt x="0" y="3552444"/>
                </a:lnTo>
                <a:close/>
              </a:path>
            </a:pathLst>
          </a:custGeom>
          <a:solidFill>
            <a:srgbClr val="748BAB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9" name="object 5"/>
          <p:cNvSpPr/>
          <p:nvPr/>
        </p:nvSpPr>
        <p:spPr>
          <a:xfrm>
            <a:off x="0" y="5967984"/>
            <a:ext cx="6858000" cy="3176693"/>
          </a:xfrm>
          <a:custGeom>
            <a:avLst/>
            <a:gdLst/>
            <a:ahLst/>
            <a:cxnLst/>
            <a:rect l="l" t="t" r="r" b="b"/>
            <a:pathLst>
              <a:path w="12192000" h="2382520">
                <a:moveTo>
                  <a:pt x="12192000" y="0"/>
                </a:moveTo>
                <a:lnTo>
                  <a:pt x="0" y="0"/>
                </a:lnTo>
                <a:lnTo>
                  <a:pt x="0" y="2382012"/>
                </a:lnTo>
                <a:lnTo>
                  <a:pt x="12192000" y="238201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22C4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Rectangle: Rounded Corners 17">
            <a:extLst>
              <a:ext uri="{FF2B5EF4-FFF2-40B4-BE49-F238E27FC236}">
                <a16:creationId xmlns:a16="http://schemas.microsoft.com/office/drawing/2014/main" id="{A15B7E2A-2A46-4587-A578-574E731CE85C}"/>
              </a:ext>
            </a:extLst>
          </p:cNvPr>
          <p:cNvSpPr/>
          <p:nvPr/>
        </p:nvSpPr>
        <p:spPr>
          <a:xfrm>
            <a:off x="5834744" y="191343"/>
            <a:ext cx="869758" cy="843653"/>
          </a:xfrm>
          <a:prstGeom prst="rect">
            <a:avLst/>
          </a:prstGeom>
          <a:solidFill>
            <a:srgbClr val="5E7C9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rtlCol="0" anchor="t" anchorCtr="0"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1867" b="1" dirty="0">
                <a:solidFill>
                  <a:schemeClr val="bg1"/>
                </a:solidFill>
              </a:rPr>
              <a:t>Omney CPA</a:t>
            </a: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BA620E08-B049-068A-062A-EDEB69511FB9}"/>
              </a:ext>
            </a:extLst>
          </p:cNvPr>
          <p:cNvSpPr txBox="1">
            <a:spLocks/>
          </p:cNvSpPr>
          <p:nvPr/>
        </p:nvSpPr>
        <p:spPr>
          <a:xfrm>
            <a:off x="167806" y="3889791"/>
            <a:ext cx="3217672" cy="416589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933" marR="6773" algn="l">
              <a:lnSpc>
                <a:spcPct val="101499"/>
              </a:lnSpc>
              <a:spcBef>
                <a:spcPts val="120"/>
              </a:spcBef>
            </a:pPr>
            <a:r>
              <a:rPr lang="en-US" sz="2667" spc="7" dirty="0">
                <a:solidFill>
                  <a:srgbClr val="FFFFFF"/>
                </a:solidFill>
                <a:latin typeface="+mn-lt"/>
              </a:rPr>
              <a:t>Omney CPA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5D8C04EF-D461-CD31-BD86-29D25BBB6083}"/>
              </a:ext>
            </a:extLst>
          </p:cNvPr>
          <p:cNvSpPr txBox="1"/>
          <p:nvPr/>
        </p:nvSpPr>
        <p:spPr>
          <a:xfrm>
            <a:off x="167804" y="4306380"/>
            <a:ext cx="3386305" cy="388141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lang="en-US" sz="2400" spc="7" dirty="0">
                <a:solidFill>
                  <a:srgbClr val="FFFFFF"/>
                </a:solidFill>
                <a:cs typeface="Arial"/>
              </a:rPr>
              <a:t>Public Accounting Firm</a:t>
            </a:r>
            <a:endParaRPr sz="2400" dirty="0">
              <a:cs typeface="Arial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D6DC78F3-6811-E5EE-F2E9-76639027AC86}"/>
              </a:ext>
            </a:extLst>
          </p:cNvPr>
          <p:cNvSpPr txBox="1">
            <a:spLocks/>
          </p:cNvSpPr>
          <p:nvPr/>
        </p:nvSpPr>
        <p:spPr>
          <a:xfrm>
            <a:off x="167806" y="2366522"/>
            <a:ext cx="3217672" cy="416589"/>
          </a:xfrm>
          <a:prstGeom prst="rect">
            <a:avLst/>
          </a:prstGeom>
        </p:spPr>
        <p:txBody>
          <a:bodyPr vert="horz" wrap="square" lIns="0" tIns="1524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933" marR="6773" algn="l">
              <a:lnSpc>
                <a:spcPct val="101499"/>
              </a:lnSpc>
              <a:spcBef>
                <a:spcPts val="120"/>
              </a:spcBef>
            </a:pPr>
            <a:r>
              <a:rPr lang="en-US" sz="2667" spc="7" dirty="0">
                <a:solidFill>
                  <a:srgbClr val="FFFFFF"/>
                </a:solidFill>
                <a:latin typeface="+mn-lt"/>
              </a:rPr>
              <a:t>K. Bharat &amp; Co.</a:t>
            </a: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DB35FA-1280-15F9-CC17-0D04AF9C4F13}"/>
              </a:ext>
            </a:extLst>
          </p:cNvPr>
          <p:cNvSpPr txBox="1"/>
          <p:nvPr/>
        </p:nvSpPr>
        <p:spPr>
          <a:xfrm>
            <a:off x="167804" y="2783111"/>
            <a:ext cx="3386305" cy="388141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lang="en-US" sz="2400" spc="7" dirty="0">
                <a:solidFill>
                  <a:srgbClr val="FFFFFF"/>
                </a:solidFill>
                <a:cs typeface="Arial"/>
              </a:rPr>
              <a:t>Chartered Accountants</a:t>
            </a:r>
            <a:endParaRPr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833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9E24B-583E-422F-9E0D-8A68B73BF5FA}"/>
              </a:ext>
            </a:extLst>
          </p:cNvPr>
          <p:cNvSpPr txBox="1"/>
          <p:nvPr/>
        </p:nvSpPr>
        <p:spPr>
          <a:xfrm>
            <a:off x="2373263" y="8851938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This profile is only for informational purposes.</a:t>
            </a:r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F278EB35-96A9-44E9-BFC6-60B55FBA62E4}"/>
              </a:ext>
            </a:extLst>
          </p:cNvPr>
          <p:cNvSpPr txBox="1">
            <a:spLocks/>
          </p:cNvSpPr>
          <p:nvPr/>
        </p:nvSpPr>
        <p:spPr>
          <a:xfrm>
            <a:off x="363380" y="217728"/>
            <a:ext cx="5195591" cy="44242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lang="en-US" sz="2800" spc="10" dirty="0">
                <a:solidFill>
                  <a:srgbClr val="1F396C"/>
                </a:solidFill>
                <a:latin typeface="+mn-lt"/>
                <a:ea typeface="+mn-ea"/>
                <a:cs typeface="+mn-cs"/>
              </a:rPr>
              <a:t>Omney CPA</a:t>
            </a: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5C61D27A-1ACB-4508-93C7-91B8C16918F5}"/>
              </a:ext>
            </a:extLst>
          </p:cNvPr>
          <p:cNvSpPr txBox="1">
            <a:spLocks/>
          </p:cNvSpPr>
          <p:nvPr/>
        </p:nvSpPr>
        <p:spPr>
          <a:xfrm>
            <a:off x="363380" y="660157"/>
            <a:ext cx="5195591" cy="38087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kumimoji="0" lang="en-US" sz="2400" b="0" i="0" u="none" strike="noStrike" kern="0" cap="none" spc="-90" normalizeH="0" baseline="0" noProof="0" dirty="0">
                <a:ln>
                  <a:noFill/>
                </a:ln>
                <a:solidFill>
                  <a:srgbClr val="748BAB"/>
                </a:solidFill>
                <a:effectLst/>
                <a:uLnTx/>
                <a:uFillTx/>
                <a:latin typeface="+mn-lt"/>
                <a:ea typeface="+mj-ea"/>
                <a:cs typeface="Arial"/>
              </a:rPr>
              <a:t>About us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BEB5A8F-977F-4974-8707-997C11C5EC22}"/>
              </a:ext>
            </a:extLst>
          </p:cNvPr>
          <p:cNvSpPr txBox="1"/>
          <p:nvPr/>
        </p:nvSpPr>
        <p:spPr>
          <a:xfrm>
            <a:off x="1835330" y="5454466"/>
            <a:ext cx="4659290" cy="26632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Kevin is a seasoned professional having 10+ years of experience serving clients in the financial services industry.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His expertise is in providing accounting, tax, and consulting services to dynamic companies and their owners across a variety of industries.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Kevin is a licensed CPA, MBA (IIM Ahmedabad) and CA.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Kevin has earlier worked with Goldman Sachs in Investment Banking and PwC in Mergers and Acquisitions.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B0865-FD3E-4BA5-801C-AE6645C959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5" t="5271" r="9635" b="36020"/>
          <a:stretch/>
        </p:blipFill>
        <p:spPr>
          <a:xfrm>
            <a:off x="376080" y="5454466"/>
            <a:ext cx="1200150" cy="13001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3DCACC-3AD2-4D57-AF42-4930510D2464}"/>
              </a:ext>
            </a:extLst>
          </p:cNvPr>
          <p:cNvSpPr txBox="1"/>
          <p:nvPr/>
        </p:nvSpPr>
        <p:spPr>
          <a:xfrm>
            <a:off x="363380" y="4949611"/>
            <a:ext cx="5195591" cy="492443"/>
          </a:xfrm>
          <a:prstGeom prst="rect">
            <a:avLst/>
          </a:prstGeom>
          <a:ln>
            <a:noFill/>
          </a:ln>
        </p:spPr>
        <p:txBody>
          <a:bodyPr vert="horz" wrap="square" lIns="0" tIns="91440" rIns="0" bIns="91440" rtlCol="0" anchor="t">
            <a:spAutoFit/>
          </a:bodyPr>
          <a:lstStyle>
            <a:defPPr>
              <a:defRPr lang="en-US"/>
            </a:defPPr>
            <a:lvl1pPr marL="297815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§"/>
              <a:tabLst>
                <a:tab pos="174625" algn="l"/>
              </a:tabLst>
              <a:defRPr spc="10">
                <a:solidFill>
                  <a:srgbClr val="1F396C"/>
                </a:solidFill>
              </a:defRPr>
            </a:lvl1pPr>
            <a:lvl2pPr marL="755015" lvl="1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Ø"/>
              <a:tabLst>
                <a:tab pos="174625" algn="l"/>
              </a:tabLst>
              <a:defRPr spc="10">
                <a:solidFill>
                  <a:srgbClr val="1F396C"/>
                </a:solidFill>
                <a:cs typeface="Calibri" panose="020F0502020204030204"/>
              </a:defRPr>
            </a:lvl2pPr>
          </a:lstStyle>
          <a:p>
            <a:pPr marL="12065" indent="0">
              <a:buNone/>
            </a:pPr>
            <a:r>
              <a:rPr lang="en-US" sz="2000" b="1" dirty="0">
                <a:cs typeface="Arial MT"/>
              </a:rPr>
              <a:t>Kevin Darji, CPA – Managing Principal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FB926A-2227-4842-ACD4-2851BA188A9C}"/>
              </a:ext>
            </a:extLst>
          </p:cNvPr>
          <p:cNvCxnSpPr>
            <a:cxnSpLocks/>
          </p:cNvCxnSpPr>
          <p:nvPr/>
        </p:nvCxnSpPr>
        <p:spPr>
          <a:xfrm>
            <a:off x="396813" y="4879407"/>
            <a:ext cx="6141933" cy="0"/>
          </a:xfrm>
          <a:prstGeom prst="line">
            <a:avLst/>
          </a:prstGeom>
          <a:ln w="22225">
            <a:solidFill>
              <a:srgbClr val="2539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C6B435-8573-4D71-83A8-92BB2A381445}"/>
              </a:ext>
            </a:extLst>
          </p:cNvPr>
          <p:cNvSpPr txBox="1"/>
          <p:nvPr/>
        </p:nvSpPr>
        <p:spPr>
          <a:xfrm>
            <a:off x="363380" y="1232555"/>
            <a:ext cx="3971925" cy="492443"/>
          </a:xfrm>
          <a:prstGeom prst="rect">
            <a:avLst/>
          </a:prstGeom>
          <a:ln>
            <a:noFill/>
          </a:ln>
        </p:spPr>
        <p:txBody>
          <a:bodyPr vert="horz" wrap="square" lIns="0" tIns="91440" rIns="0" bIns="91440" rtlCol="0" anchor="t">
            <a:spAutoFit/>
          </a:bodyPr>
          <a:lstStyle>
            <a:defPPr>
              <a:defRPr lang="en-US"/>
            </a:defPPr>
            <a:lvl1pPr marL="297815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§"/>
              <a:tabLst>
                <a:tab pos="174625" algn="l"/>
              </a:tabLst>
              <a:defRPr spc="10">
                <a:solidFill>
                  <a:srgbClr val="1F396C"/>
                </a:solidFill>
              </a:defRPr>
            </a:lvl1pPr>
            <a:lvl2pPr marL="755015" lvl="1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Ø"/>
              <a:tabLst>
                <a:tab pos="174625" algn="l"/>
              </a:tabLst>
              <a:defRPr spc="10">
                <a:solidFill>
                  <a:srgbClr val="1F396C"/>
                </a:solidFill>
                <a:cs typeface="Calibri" panose="020F0502020204030204"/>
              </a:defRPr>
            </a:lvl2pPr>
          </a:lstStyle>
          <a:p>
            <a:pPr marL="12065" indent="0">
              <a:buNone/>
            </a:pPr>
            <a:r>
              <a:rPr lang="en-US" sz="2000" b="1" dirty="0">
                <a:cs typeface="Arial MT"/>
              </a:rPr>
              <a:t>About the firm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0D81AE08-6553-458C-8A68-AED3D3E64C20}"/>
              </a:ext>
            </a:extLst>
          </p:cNvPr>
          <p:cNvSpPr txBox="1"/>
          <p:nvPr/>
        </p:nvSpPr>
        <p:spPr>
          <a:xfrm>
            <a:off x="363380" y="1713926"/>
            <a:ext cx="6131240" cy="30063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K. Bharat &amp; Co., Chartered Accountants is a practicing CA firm based in Mumbai, India.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Omney CPA is a licensed US CPA firm.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Omney provides attest, tax and accounting services to businesses and high net worth individuals.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Omney has offices in Atlanta, GA and Mumbai, India, and has a team strength of 30+ skilled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2418965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11">
            <a:extLst>
              <a:ext uri="{FF2B5EF4-FFF2-40B4-BE49-F238E27FC236}">
                <a16:creationId xmlns:a16="http://schemas.microsoft.com/office/drawing/2014/main" id="{903EC38E-0A42-4422-8C4D-14E907AF1F4C}"/>
              </a:ext>
            </a:extLst>
          </p:cNvPr>
          <p:cNvSpPr txBox="1">
            <a:spLocks/>
          </p:cNvSpPr>
          <p:nvPr/>
        </p:nvSpPr>
        <p:spPr>
          <a:xfrm>
            <a:off x="363380" y="217728"/>
            <a:ext cx="5195591" cy="44242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lang="en-US" sz="2800" spc="10" dirty="0">
                <a:solidFill>
                  <a:srgbClr val="1F396C"/>
                </a:solidFill>
                <a:latin typeface="+mn-lt"/>
                <a:ea typeface="+mn-ea"/>
                <a:cs typeface="+mn-cs"/>
              </a:rPr>
              <a:t>Omney CPA</a:t>
            </a:r>
          </a:p>
        </p:txBody>
      </p:sp>
      <p:sp>
        <p:nvSpPr>
          <p:cNvPr id="50" name="object 11">
            <a:extLst>
              <a:ext uri="{FF2B5EF4-FFF2-40B4-BE49-F238E27FC236}">
                <a16:creationId xmlns:a16="http://schemas.microsoft.com/office/drawing/2014/main" id="{CD065AFE-DFAD-409F-947C-2DB539C913EA}"/>
              </a:ext>
            </a:extLst>
          </p:cNvPr>
          <p:cNvSpPr txBox="1">
            <a:spLocks/>
          </p:cNvSpPr>
          <p:nvPr/>
        </p:nvSpPr>
        <p:spPr>
          <a:xfrm>
            <a:off x="363380" y="660157"/>
            <a:ext cx="5195591" cy="38087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kumimoji="0" lang="en-US" sz="2400" b="0" i="0" u="none" strike="noStrike" kern="0" cap="none" spc="-90" normalizeH="0" baseline="0" noProof="0" dirty="0">
                <a:ln>
                  <a:noFill/>
                </a:ln>
                <a:solidFill>
                  <a:srgbClr val="748BAB"/>
                </a:solidFill>
                <a:effectLst/>
                <a:uLnTx/>
                <a:uFillTx/>
                <a:latin typeface="+mn-lt"/>
                <a:ea typeface="+mj-ea"/>
                <a:cs typeface="Arial"/>
              </a:rPr>
              <a:t>Tax and Accounting Services (1/2)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8633FD-CED6-40DE-AE9A-69252939B2DE}"/>
              </a:ext>
            </a:extLst>
          </p:cNvPr>
          <p:cNvSpPr txBox="1"/>
          <p:nvPr/>
        </p:nvSpPr>
        <p:spPr>
          <a:xfrm>
            <a:off x="2373263" y="8851938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This profile is only for informational purposes.</a:t>
            </a:r>
          </a:p>
        </p:txBody>
      </p:sp>
      <p:sp>
        <p:nvSpPr>
          <p:cNvPr id="2" name="object 27">
            <a:extLst>
              <a:ext uri="{FF2B5EF4-FFF2-40B4-BE49-F238E27FC236}">
                <a16:creationId xmlns:a16="http://schemas.microsoft.com/office/drawing/2014/main" id="{880019EA-4C1C-2B9F-1988-49A78194FD07}"/>
              </a:ext>
            </a:extLst>
          </p:cNvPr>
          <p:cNvSpPr/>
          <p:nvPr/>
        </p:nvSpPr>
        <p:spPr>
          <a:xfrm>
            <a:off x="460091" y="7826203"/>
            <a:ext cx="5937819" cy="953630"/>
          </a:xfrm>
          <a:custGeom>
            <a:avLst/>
            <a:gdLst/>
            <a:ahLst/>
            <a:cxnLst/>
            <a:rect l="l" t="t" r="r" b="b"/>
            <a:pathLst>
              <a:path w="3227070" h="1371600">
                <a:moveTo>
                  <a:pt x="2997974" y="0"/>
                </a:moveTo>
                <a:lnTo>
                  <a:pt x="228600" y="0"/>
                </a:ln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0" y="1142987"/>
                </a:lnTo>
                <a:lnTo>
                  <a:pt x="4644" y="1189061"/>
                </a:lnTo>
                <a:lnTo>
                  <a:pt x="17964" y="1231975"/>
                </a:lnTo>
                <a:lnTo>
                  <a:pt x="39041" y="1270808"/>
                </a:lnTo>
                <a:lnTo>
                  <a:pt x="66955" y="1304642"/>
                </a:lnTo>
                <a:lnTo>
                  <a:pt x="100788" y="1332557"/>
                </a:lnTo>
                <a:lnTo>
                  <a:pt x="139619" y="1353635"/>
                </a:lnTo>
                <a:lnTo>
                  <a:pt x="182529" y="1366955"/>
                </a:lnTo>
                <a:lnTo>
                  <a:pt x="228600" y="1371600"/>
                </a:lnTo>
                <a:lnTo>
                  <a:pt x="2997974" y="1371600"/>
                </a:lnTo>
                <a:lnTo>
                  <a:pt x="3044049" y="1366955"/>
                </a:lnTo>
                <a:lnTo>
                  <a:pt x="3086962" y="1353635"/>
                </a:lnTo>
                <a:lnTo>
                  <a:pt x="3125796" y="1332557"/>
                </a:lnTo>
                <a:lnTo>
                  <a:pt x="3159629" y="1304642"/>
                </a:lnTo>
                <a:lnTo>
                  <a:pt x="3187545" y="1270808"/>
                </a:lnTo>
                <a:lnTo>
                  <a:pt x="3208622" y="1231975"/>
                </a:lnTo>
                <a:lnTo>
                  <a:pt x="3221942" y="1189061"/>
                </a:lnTo>
                <a:lnTo>
                  <a:pt x="3226587" y="1142987"/>
                </a:lnTo>
                <a:lnTo>
                  <a:pt x="3226587" y="228600"/>
                </a:lnTo>
                <a:lnTo>
                  <a:pt x="3221942" y="182529"/>
                </a:lnTo>
                <a:lnTo>
                  <a:pt x="3208622" y="139619"/>
                </a:lnTo>
                <a:lnTo>
                  <a:pt x="3187545" y="100788"/>
                </a:lnTo>
                <a:lnTo>
                  <a:pt x="3159629" y="66955"/>
                </a:lnTo>
                <a:lnTo>
                  <a:pt x="3125796" y="39041"/>
                </a:lnTo>
                <a:lnTo>
                  <a:pt x="3086962" y="17964"/>
                </a:lnTo>
                <a:lnTo>
                  <a:pt x="3044049" y="4644"/>
                </a:lnTo>
                <a:lnTo>
                  <a:pt x="2997974" y="0"/>
                </a:lnTo>
                <a:close/>
              </a:path>
            </a:pathLst>
          </a:custGeom>
          <a:solidFill>
            <a:srgbClr val="7399C5">
              <a:alpha val="14900"/>
            </a:srgbClr>
          </a:solidFill>
        </p:spPr>
        <p:txBody>
          <a:bodyPr wrap="square" lIns="182880" tIns="0" rIns="9144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Audit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Limited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Compilation engagements</a:t>
            </a:r>
          </a:p>
        </p:txBody>
      </p:sp>
      <p:sp>
        <p:nvSpPr>
          <p:cNvPr id="3" name="object 28">
            <a:extLst>
              <a:ext uri="{FF2B5EF4-FFF2-40B4-BE49-F238E27FC236}">
                <a16:creationId xmlns:a16="http://schemas.microsoft.com/office/drawing/2014/main" id="{4FAFBAF0-13B3-56CD-6CE0-C358AD08F3FE}"/>
              </a:ext>
            </a:extLst>
          </p:cNvPr>
          <p:cNvSpPr/>
          <p:nvPr/>
        </p:nvSpPr>
        <p:spPr>
          <a:xfrm>
            <a:off x="460091" y="7826203"/>
            <a:ext cx="5937819" cy="953630"/>
          </a:xfrm>
          <a:custGeom>
            <a:avLst/>
            <a:gdLst/>
            <a:ahLst/>
            <a:cxnLst/>
            <a:rect l="l" t="t" r="r" b="b"/>
            <a:pathLst>
              <a:path w="3227070" h="13716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997974" y="0"/>
                </a:lnTo>
                <a:lnTo>
                  <a:pt x="3044049" y="4644"/>
                </a:lnTo>
                <a:lnTo>
                  <a:pt x="3086962" y="17964"/>
                </a:lnTo>
                <a:lnTo>
                  <a:pt x="3125796" y="39041"/>
                </a:lnTo>
                <a:lnTo>
                  <a:pt x="3159629" y="66955"/>
                </a:lnTo>
                <a:lnTo>
                  <a:pt x="3187545" y="100788"/>
                </a:lnTo>
                <a:lnTo>
                  <a:pt x="3208622" y="139619"/>
                </a:lnTo>
                <a:lnTo>
                  <a:pt x="3221942" y="182529"/>
                </a:lnTo>
                <a:lnTo>
                  <a:pt x="3226587" y="228600"/>
                </a:lnTo>
                <a:lnTo>
                  <a:pt x="3226587" y="1142987"/>
                </a:lnTo>
                <a:lnTo>
                  <a:pt x="3221942" y="1189061"/>
                </a:lnTo>
                <a:lnTo>
                  <a:pt x="3208622" y="1231975"/>
                </a:lnTo>
                <a:lnTo>
                  <a:pt x="3187545" y="1270808"/>
                </a:lnTo>
                <a:lnTo>
                  <a:pt x="3159629" y="1304642"/>
                </a:lnTo>
                <a:lnTo>
                  <a:pt x="3125796" y="1332557"/>
                </a:lnTo>
                <a:lnTo>
                  <a:pt x="3086962" y="1353635"/>
                </a:lnTo>
                <a:lnTo>
                  <a:pt x="3044049" y="1366955"/>
                </a:lnTo>
                <a:lnTo>
                  <a:pt x="2997974" y="1371600"/>
                </a:lnTo>
                <a:lnTo>
                  <a:pt x="228600" y="1371600"/>
                </a:lnTo>
                <a:lnTo>
                  <a:pt x="182529" y="1366955"/>
                </a:lnTo>
                <a:lnTo>
                  <a:pt x="139619" y="1353635"/>
                </a:lnTo>
                <a:lnTo>
                  <a:pt x="100788" y="1332557"/>
                </a:lnTo>
                <a:lnTo>
                  <a:pt x="66955" y="1304642"/>
                </a:lnTo>
                <a:lnTo>
                  <a:pt x="39041" y="1270808"/>
                </a:lnTo>
                <a:lnTo>
                  <a:pt x="17964" y="1231975"/>
                </a:lnTo>
                <a:lnTo>
                  <a:pt x="4644" y="1189061"/>
                </a:lnTo>
                <a:lnTo>
                  <a:pt x="0" y="1142987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7399C5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5">
            <a:extLst>
              <a:ext uri="{FF2B5EF4-FFF2-40B4-BE49-F238E27FC236}">
                <a16:creationId xmlns:a16="http://schemas.microsoft.com/office/drawing/2014/main" id="{93CA964F-7881-A56D-BAE9-797451BC611C}"/>
              </a:ext>
            </a:extLst>
          </p:cNvPr>
          <p:cNvSpPr/>
          <p:nvPr/>
        </p:nvSpPr>
        <p:spPr>
          <a:xfrm>
            <a:off x="460092" y="7315230"/>
            <a:ext cx="5937820" cy="384048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1005916" y="0"/>
                </a:moveTo>
                <a:lnTo>
                  <a:pt x="201193" y="0"/>
                </a:lnTo>
                <a:lnTo>
                  <a:pt x="155062" y="5313"/>
                </a:lnTo>
                <a:lnTo>
                  <a:pt x="112715" y="20450"/>
                </a:lnTo>
                <a:lnTo>
                  <a:pt x="75358" y="44201"/>
                </a:lnTo>
                <a:lnTo>
                  <a:pt x="44201" y="75358"/>
                </a:lnTo>
                <a:lnTo>
                  <a:pt x="20450" y="112715"/>
                </a:lnTo>
                <a:lnTo>
                  <a:pt x="5313" y="155062"/>
                </a:lnTo>
                <a:lnTo>
                  <a:pt x="0" y="201193"/>
                </a:lnTo>
                <a:lnTo>
                  <a:pt x="0" y="1170419"/>
                </a:lnTo>
                <a:lnTo>
                  <a:pt x="5313" y="1216549"/>
                </a:lnTo>
                <a:lnTo>
                  <a:pt x="20450" y="1258894"/>
                </a:lnTo>
                <a:lnTo>
                  <a:pt x="44201" y="1296248"/>
                </a:lnTo>
                <a:lnTo>
                  <a:pt x="75358" y="1327403"/>
                </a:lnTo>
                <a:lnTo>
                  <a:pt x="112715" y="1351152"/>
                </a:lnTo>
                <a:lnTo>
                  <a:pt x="155062" y="1366286"/>
                </a:lnTo>
                <a:lnTo>
                  <a:pt x="201193" y="1371599"/>
                </a:lnTo>
                <a:lnTo>
                  <a:pt x="1005916" y="1371599"/>
                </a:lnTo>
                <a:lnTo>
                  <a:pt x="1052046" y="1366286"/>
                </a:lnTo>
                <a:lnTo>
                  <a:pt x="1094394" y="1351152"/>
                </a:lnTo>
                <a:lnTo>
                  <a:pt x="1131750" y="1327403"/>
                </a:lnTo>
                <a:lnTo>
                  <a:pt x="1162908" y="1296248"/>
                </a:lnTo>
                <a:lnTo>
                  <a:pt x="1186659" y="1258894"/>
                </a:lnTo>
                <a:lnTo>
                  <a:pt x="1201795" y="1216549"/>
                </a:lnTo>
                <a:lnTo>
                  <a:pt x="1207109" y="1170419"/>
                </a:lnTo>
                <a:lnTo>
                  <a:pt x="1207109" y="201193"/>
                </a:lnTo>
                <a:lnTo>
                  <a:pt x="1201795" y="155062"/>
                </a:lnTo>
                <a:lnTo>
                  <a:pt x="1186659" y="112715"/>
                </a:lnTo>
                <a:lnTo>
                  <a:pt x="1162908" y="75358"/>
                </a:lnTo>
                <a:lnTo>
                  <a:pt x="1131750" y="44201"/>
                </a:lnTo>
                <a:lnTo>
                  <a:pt x="1094394" y="20450"/>
                </a:lnTo>
                <a:lnTo>
                  <a:pt x="1052046" y="5313"/>
                </a:lnTo>
                <a:lnTo>
                  <a:pt x="1005916" y="0"/>
                </a:lnTo>
                <a:close/>
              </a:path>
            </a:pathLst>
          </a:custGeom>
          <a:solidFill>
            <a:srgbClr val="7399C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Attest Services</a:t>
            </a:r>
          </a:p>
        </p:txBody>
      </p:sp>
      <p:sp>
        <p:nvSpPr>
          <p:cNvPr id="5" name="object 46">
            <a:extLst>
              <a:ext uri="{FF2B5EF4-FFF2-40B4-BE49-F238E27FC236}">
                <a16:creationId xmlns:a16="http://schemas.microsoft.com/office/drawing/2014/main" id="{A661F569-B205-5A7A-05AD-BC2F28B0C7D3}"/>
              </a:ext>
            </a:extLst>
          </p:cNvPr>
          <p:cNvSpPr/>
          <p:nvPr/>
        </p:nvSpPr>
        <p:spPr>
          <a:xfrm>
            <a:off x="460092" y="7315230"/>
            <a:ext cx="5937820" cy="384048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0" y="201193"/>
                </a:moveTo>
                <a:lnTo>
                  <a:pt x="5313" y="155062"/>
                </a:lnTo>
                <a:lnTo>
                  <a:pt x="20450" y="112715"/>
                </a:lnTo>
                <a:lnTo>
                  <a:pt x="44201" y="75358"/>
                </a:lnTo>
                <a:lnTo>
                  <a:pt x="75358" y="44201"/>
                </a:lnTo>
                <a:lnTo>
                  <a:pt x="112715" y="20450"/>
                </a:lnTo>
                <a:lnTo>
                  <a:pt x="155062" y="5313"/>
                </a:lnTo>
                <a:lnTo>
                  <a:pt x="201193" y="0"/>
                </a:lnTo>
                <a:lnTo>
                  <a:pt x="1005916" y="0"/>
                </a:lnTo>
                <a:lnTo>
                  <a:pt x="1052046" y="5313"/>
                </a:lnTo>
                <a:lnTo>
                  <a:pt x="1094394" y="20450"/>
                </a:lnTo>
                <a:lnTo>
                  <a:pt x="1131750" y="44201"/>
                </a:lnTo>
                <a:lnTo>
                  <a:pt x="1162908" y="75358"/>
                </a:lnTo>
                <a:lnTo>
                  <a:pt x="1186659" y="112715"/>
                </a:lnTo>
                <a:lnTo>
                  <a:pt x="1201795" y="155062"/>
                </a:lnTo>
                <a:lnTo>
                  <a:pt x="1207109" y="201193"/>
                </a:lnTo>
                <a:lnTo>
                  <a:pt x="1207109" y="1170419"/>
                </a:lnTo>
                <a:lnTo>
                  <a:pt x="1201795" y="1216549"/>
                </a:lnTo>
                <a:lnTo>
                  <a:pt x="1186659" y="1258894"/>
                </a:lnTo>
                <a:lnTo>
                  <a:pt x="1162908" y="1296248"/>
                </a:lnTo>
                <a:lnTo>
                  <a:pt x="1131750" y="1327403"/>
                </a:lnTo>
                <a:lnTo>
                  <a:pt x="1094394" y="1351152"/>
                </a:lnTo>
                <a:lnTo>
                  <a:pt x="1052046" y="1366286"/>
                </a:lnTo>
                <a:lnTo>
                  <a:pt x="1005916" y="1371599"/>
                </a:lnTo>
                <a:lnTo>
                  <a:pt x="201193" y="1371599"/>
                </a:lnTo>
                <a:lnTo>
                  <a:pt x="155062" y="1366286"/>
                </a:lnTo>
                <a:lnTo>
                  <a:pt x="112715" y="1351152"/>
                </a:lnTo>
                <a:lnTo>
                  <a:pt x="75358" y="1327403"/>
                </a:lnTo>
                <a:lnTo>
                  <a:pt x="44201" y="1296248"/>
                </a:lnTo>
                <a:lnTo>
                  <a:pt x="20450" y="1258894"/>
                </a:lnTo>
                <a:lnTo>
                  <a:pt x="5313" y="1216549"/>
                </a:lnTo>
                <a:lnTo>
                  <a:pt x="0" y="1170419"/>
                </a:lnTo>
                <a:lnTo>
                  <a:pt x="0" y="201193"/>
                </a:lnTo>
                <a:close/>
              </a:path>
            </a:pathLst>
          </a:custGeom>
          <a:ln w="25400">
            <a:solidFill>
              <a:srgbClr val="7399C5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31">
            <a:extLst>
              <a:ext uri="{FF2B5EF4-FFF2-40B4-BE49-F238E27FC236}">
                <a16:creationId xmlns:a16="http://schemas.microsoft.com/office/drawing/2014/main" id="{0D13BF5D-C1AD-7B94-A703-53D106B0BD9D}"/>
              </a:ext>
            </a:extLst>
          </p:cNvPr>
          <p:cNvSpPr/>
          <p:nvPr/>
        </p:nvSpPr>
        <p:spPr>
          <a:xfrm>
            <a:off x="460090" y="2019366"/>
            <a:ext cx="5937820" cy="2306450"/>
          </a:xfrm>
          <a:custGeom>
            <a:avLst/>
            <a:gdLst/>
            <a:ahLst/>
            <a:cxnLst/>
            <a:rect l="l" t="t" r="r" b="b"/>
            <a:pathLst>
              <a:path w="3218815" h="1371600">
                <a:moveTo>
                  <a:pt x="2989973" y="0"/>
                </a:moveTo>
                <a:lnTo>
                  <a:pt x="228600" y="0"/>
                </a:ln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0" y="1142987"/>
                </a:lnTo>
                <a:lnTo>
                  <a:pt x="4644" y="1189061"/>
                </a:lnTo>
                <a:lnTo>
                  <a:pt x="17964" y="1231975"/>
                </a:lnTo>
                <a:lnTo>
                  <a:pt x="39041" y="1270808"/>
                </a:lnTo>
                <a:lnTo>
                  <a:pt x="66955" y="1304642"/>
                </a:lnTo>
                <a:lnTo>
                  <a:pt x="100788" y="1332557"/>
                </a:lnTo>
                <a:lnTo>
                  <a:pt x="139619" y="1353635"/>
                </a:lnTo>
                <a:lnTo>
                  <a:pt x="182529" y="1366955"/>
                </a:lnTo>
                <a:lnTo>
                  <a:pt x="228600" y="1371600"/>
                </a:lnTo>
                <a:lnTo>
                  <a:pt x="2989973" y="1371600"/>
                </a:lnTo>
                <a:lnTo>
                  <a:pt x="3036044" y="1366955"/>
                </a:lnTo>
                <a:lnTo>
                  <a:pt x="3078954" y="1353635"/>
                </a:lnTo>
                <a:lnTo>
                  <a:pt x="3117785" y="1332557"/>
                </a:lnTo>
                <a:lnTo>
                  <a:pt x="3151617" y="1304642"/>
                </a:lnTo>
                <a:lnTo>
                  <a:pt x="3179531" y="1270808"/>
                </a:lnTo>
                <a:lnTo>
                  <a:pt x="3200608" y="1231975"/>
                </a:lnTo>
                <a:lnTo>
                  <a:pt x="3213929" y="1189061"/>
                </a:lnTo>
                <a:lnTo>
                  <a:pt x="3218573" y="1142987"/>
                </a:lnTo>
                <a:lnTo>
                  <a:pt x="3218573" y="228600"/>
                </a:lnTo>
                <a:lnTo>
                  <a:pt x="3213929" y="182529"/>
                </a:lnTo>
                <a:lnTo>
                  <a:pt x="3200608" y="139619"/>
                </a:lnTo>
                <a:lnTo>
                  <a:pt x="3179531" y="100788"/>
                </a:lnTo>
                <a:lnTo>
                  <a:pt x="3151617" y="66955"/>
                </a:lnTo>
                <a:lnTo>
                  <a:pt x="3117785" y="39041"/>
                </a:lnTo>
                <a:lnTo>
                  <a:pt x="3078954" y="17964"/>
                </a:lnTo>
                <a:lnTo>
                  <a:pt x="3036044" y="4644"/>
                </a:lnTo>
                <a:lnTo>
                  <a:pt x="2989973" y="0"/>
                </a:lnTo>
                <a:close/>
              </a:path>
            </a:pathLst>
          </a:custGeom>
          <a:solidFill>
            <a:srgbClr val="20657C">
              <a:alpha val="14900"/>
            </a:srgbClr>
          </a:solidFill>
          <a:ln>
            <a:solidFill>
              <a:srgbClr val="20657C"/>
            </a:solidFill>
          </a:ln>
        </p:spPr>
        <p:txBody>
          <a:bodyPr wrap="square" lIns="182880" tIns="0" rIns="91440" bIns="0" rtlCol="0" anchor="ctr"/>
          <a:lstStyle/>
          <a:p>
            <a:r>
              <a:rPr lang="en-US" dirty="0">
                <a:solidFill>
                  <a:srgbClr val="1F396C"/>
                </a:solidFill>
              </a:rPr>
              <a:t>Services to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PPM Audit (India)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Valuations (India)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Preparation of Schedule K-1 tax reporting for US 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Assistance in US regulatory compliances for fund raising from US 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FATCA / CRS Reporting</a:t>
            </a:r>
          </a:p>
        </p:txBody>
      </p:sp>
      <p:sp>
        <p:nvSpPr>
          <p:cNvPr id="7" name="object 32">
            <a:extLst>
              <a:ext uri="{FF2B5EF4-FFF2-40B4-BE49-F238E27FC236}">
                <a16:creationId xmlns:a16="http://schemas.microsoft.com/office/drawing/2014/main" id="{75AB6AB2-C135-EF65-0C75-E79CE6D62C43}"/>
              </a:ext>
            </a:extLst>
          </p:cNvPr>
          <p:cNvSpPr/>
          <p:nvPr/>
        </p:nvSpPr>
        <p:spPr>
          <a:xfrm>
            <a:off x="460090" y="2019365"/>
            <a:ext cx="5937820" cy="2332619"/>
          </a:xfrm>
          <a:custGeom>
            <a:avLst/>
            <a:gdLst/>
            <a:ahLst/>
            <a:cxnLst/>
            <a:rect l="l" t="t" r="r" b="b"/>
            <a:pathLst>
              <a:path w="3218815" h="13716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989973" y="0"/>
                </a:lnTo>
                <a:lnTo>
                  <a:pt x="3036044" y="4644"/>
                </a:lnTo>
                <a:lnTo>
                  <a:pt x="3078954" y="17964"/>
                </a:lnTo>
                <a:lnTo>
                  <a:pt x="3117785" y="39041"/>
                </a:lnTo>
                <a:lnTo>
                  <a:pt x="3151617" y="66955"/>
                </a:lnTo>
                <a:lnTo>
                  <a:pt x="3179531" y="100788"/>
                </a:lnTo>
                <a:lnTo>
                  <a:pt x="3200608" y="139619"/>
                </a:lnTo>
                <a:lnTo>
                  <a:pt x="3213929" y="182529"/>
                </a:lnTo>
                <a:lnTo>
                  <a:pt x="3218573" y="228600"/>
                </a:lnTo>
                <a:lnTo>
                  <a:pt x="3218573" y="1142987"/>
                </a:lnTo>
                <a:lnTo>
                  <a:pt x="3213929" y="1189061"/>
                </a:lnTo>
                <a:lnTo>
                  <a:pt x="3200608" y="1231975"/>
                </a:lnTo>
                <a:lnTo>
                  <a:pt x="3179531" y="1270808"/>
                </a:lnTo>
                <a:lnTo>
                  <a:pt x="3151617" y="1304642"/>
                </a:lnTo>
                <a:lnTo>
                  <a:pt x="3117785" y="1332557"/>
                </a:lnTo>
                <a:lnTo>
                  <a:pt x="3078954" y="1353635"/>
                </a:lnTo>
                <a:lnTo>
                  <a:pt x="3036044" y="1366955"/>
                </a:lnTo>
                <a:lnTo>
                  <a:pt x="2989973" y="1371600"/>
                </a:lnTo>
                <a:lnTo>
                  <a:pt x="228600" y="1371600"/>
                </a:lnTo>
                <a:lnTo>
                  <a:pt x="182529" y="1366955"/>
                </a:lnTo>
                <a:lnTo>
                  <a:pt x="139619" y="1353635"/>
                </a:lnTo>
                <a:lnTo>
                  <a:pt x="100788" y="1332557"/>
                </a:lnTo>
                <a:lnTo>
                  <a:pt x="66955" y="1304642"/>
                </a:lnTo>
                <a:lnTo>
                  <a:pt x="39041" y="1270808"/>
                </a:lnTo>
                <a:lnTo>
                  <a:pt x="17964" y="1231975"/>
                </a:lnTo>
                <a:lnTo>
                  <a:pt x="4644" y="1189061"/>
                </a:lnTo>
                <a:lnTo>
                  <a:pt x="0" y="1142987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20657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49">
            <a:extLst>
              <a:ext uri="{FF2B5EF4-FFF2-40B4-BE49-F238E27FC236}">
                <a16:creationId xmlns:a16="http://schemas.microsoft.com/office/drawing/2014/main" id="{7CD37496-DE0B-CCFC-45D9-6529F9A8641F}"/>
              </a:ext>
            </a:extLst>
          </p:cNvPr>
          <p:cNvSpPr/>
          <p:nvPr/>
        </p:nvSpPr>
        <p:spPr>
          <a:xfrm>
            <a:off x="460090" y="1477854"/>
            <a:ext cx="5937820" cy="380873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1005916" y="0"/>
                </a:moveTo>
                <a:lnTo>
                  <a:pt x="201193" y="0"/>
                </a:lnTo>
                <a:lnTo>
                  <a:pt x="155062" y="5313"/>
                </a:lnTo>
                <a:lnTo>
                  <a:pt x="112715" y="20450"/>
                </a:lnTo>
                <a:lnTo>
                  <a:pt x="75358" y="44201"/>
                </a:lnTo>
                <a:lnTo>
                  <a:pt x="44201" y="75358"/>
                </a:lnTo>
                <a:lnTo>
                  <a:pt x="20450" y="112715"/>
                </a:lnTo>
                <a:lnTo>
                  <a:pt x="5313" y="155062"/>
                </a:lnTo>
                <a:lnTo>
                  <a:pt x="0" y="201193"/>
                </a:lnTo>
                <a:lnTo>
                  <a:pt x="0" y="1170419"/>
                </a:lnTo>
                <a:lnTo>
                  <a:pt x="5313" y="1216549"/>
                </a:lnTo>
                <a:lnTo>
                  <a:pt x="20450" y="1258894"/>
                </a:lnTo>
                <a:lnTo>
                  <a:pt x="44201" y="1296248"/>
                </a:lnTo>
                <a:lnTo>
                  <a:pt x="75358" y="1327403"/>
                </a:lnTo>
                <a:lnTo>
                  <a:pt x="112715" y="1351152"/>
                </a:lnTo>
                <a:lnTo>
                  <a:pt x="155062" y="1366286"/>
                </a:lnTo>
                <a:lnTo>
                  <a:pt x="201193" y="1371599"/>
                </a:lnTo>
                <a:lnTo>
                  <a:pt x="1005916" y="1371599"/>
                </a:lnTo>
                <a:lnTo>
                  <a:pt x="1052046" y="1366286"/>
                </a:lnTo>
                <a:lnTo>
                  <a:pt x="1094394" y="1351152"/>
                </a:lnTo>
                <a:lnTo>
                  <a:pt x="1131750" y="1327403"/>
                </a:lnTo>
                <a:lnTo>
                  <a:pt x="1162908" y="1296248"/>
                </a:lnTo>
                <a:lnTo>
                  <a:pt x="1186659" y="1258894"/>
                </a:lnTo>
                <a:lnTo>
                  <a:pt x="1201795" y="1216549"/>
                </a:lnTo>
                <a:lnTo>
                  <a:pt x="1207109" y="1170419"/>
                </a:lnTo>
                <a:lnTo>
                  <a:pt x="1207109" y="201193"/>
                </a:lnTo>
                <a:lnTo>
                  <a:pt x="1201795" y="155062"/>
                </a:lnTo>
                <a:lnTo>
                  <a:pt x="1186659" y="112715"/>
                </a:lnTo>
                <a:lnTo>
                  <a:pt x="1162908" y="75358"/>
                </a:lnTo>
                <a:lnTo>
                  <a:pt x="1131750" y="44201"/>
                </a:lnTo>
                <a:lnTo>
                  <a:pt x="1094394" y="20450"/>
                </a:lnTo>
                <a:lnTo>
                  <a:pt x="1052046" y="5313"/>
                </a:lnTo>
                <a:lnTo>
                  <a:pt x="1005916" y="0"/>
                </a:lnTo>
                <a:close/>
              </a:path>
            </a:pathLst>
          </a:custGeom>
          <a:solidFill>
            <a:srgbClr val="20657C"/>
          </a:solidFill>
          <a:ln>
            <a:solidFill>
              <a:srgbClr val="20657C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Financial Services domain</a:t>
            </a:r>
          </a:p>
        </p:txBody>
      </p:sp>
      <p:sp>
        <p:nvSpPr>
          <p:cNvPr id="9" name="object 50">
            <a:extLst>
              <a:ext uri="{FF2B5EF4-FFF2-40B4-BE49-F238E27FC236}">
                <a16:creationId xmlns:a16="http://schemas.microsoft.com/office/drawing/2014/main" id="{7B70BBDC-70F4-BD7E-3E98-57B7900C1298}"/>
              </a:ext>
            </a:extLst>
          </p:cNvPr>
          <p:cNvSpPr/>
          <p:nvPr/>
        </p:nvSpPr>
        <p:spPr>
          <a:xfrm>
            <a:off x="460090" y="1477854"/>
            <a:ext cx="5937820" cy="380873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0" y="201193"/>
                </a:moveTo>
                <a:lnTo>
                  <a:pt x="5313" y="155062"/>
                </a:lnTo>
                <a:lnTo>
                  <a:pt x="20450" y="112715"/>
                </a:lnTo>
                <a:lnTo>
                  <a:pt x="44201" y="75358"/>
                </a:lnTo>
                <a:lnTo>
                  <a:pt x="75358" y="44201"/>
                </a:lnTo>
                <a:lnTo>
                  <a:pt x="112715" y="20450"/>
                </a:lnTo>
                <a:lnTo>
                  <a:pt x="155062" y="5313"/>
                </a:lnTo>
                <a:lnTo>
                  <a:pt x="201193" y="0"/>
                </a:lnTo>
                <a:lnTo>
                  <a:pt x="1005916" y="0"/>
                </a:lnTo>
                <a:lnTo>
                  <a:pt x="1052046" y="5313"/>
                </a:lnTo>
                <a:lnTo>
                  <a:pt x="1094394" y="20450"/>
                </a:lnTo>
                <a:lnTo>
                  <a:pt x="1131750" y="44201"/>
                </a:lnTo>
                <a:lnTo>
                  <a:pt x="1162908" y="75358"/>
                </a:lnTo>
                <a:lnTo>
                  <a:pt x="1186659" y="112715"/>
                </a:lnTo>
                <a:lnTo>
                  <a:pt x="1201795" y="155062"/>
                </a:lnTo>
                <a:lnTo>
                  <a:pt x="1207109" y="201193"/>
                </a:lnTo>
                <a:lnTo>
                  <a:pt x="1207109" y="1170419"/>
                </a:lnTo>
                <a:lnTo>
                  <a:pt x="1201795" y="1216549"/>
                </a:lnTo>
                <a:lnTo>
                  <a:pt x="1186659" y="1258894"/>
                </a:lnTo>
                <a:lnTo>
                  <a:pt x="1162908" y="1296248"/>
                </a:lnTo>
                <a:lnTo>
                  <a:pt x="1131750" y="1327403"/>
                </a:lnTo>
                <a:lnTo>
                  <a:pt x="1094394" y="1351152"/>
                </a:lnTo>
                <a:lnTo>
                  <a:pt x="1052046" y="1366286"/>
                </a:lnTo>
                <a:lnTo>
                  <a:pt x="1005916" y="1371599"/>
                </a:lnTo>
                <a:lnTo>
                  <a:pt x="201193" y="1371599"/>
                </a:lnTo>
                <a:lnTo>
                  <a:pt x="155062" y="1366286"/>
                </a:lnTo>
                <a:lnTo>
                  <a:pt x="112715" y="1351152"/>
                </a:lnTo>
                <a:lnTo>
                  <a:pt x="75358" y="1327403"/>
                </a:lnTo>
                <a:lnTo>
                  <a:pt x="44201" y="1296248"/>
                </a:lnTo>
                <a:lnTo>
                  <a:pt x="20450" y="1258894"/>
                </a:lnTo>
                <a:lnTo>
                  <a:pt x="5313" y="1216549"/>
                </a:lnTo>
                <a:lnTo>
                  <a:pt x="0" y="1170419"/>
                </a:lnTo>
                <a:lnTo>
                  <a:pt x="0" y="201193"/>
                </a:lnTo>
                <a:close/>
              </a:path>
            </a:pathLst>
          </a:custGeom>
          <a:ln w="25400">
            <a:solidFill>
              <a:srgbClr val="20657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23">
            <a:extLst>
              <a:ext uri="{FF2B5EF4-FFF2-40B4-BE49-F238E27FC236}">
                <a16:creationId xmlns:a16="http://schemas.microsoft.com/office/drawing/2014/main" id="{CEC91A2F-C94E-B17E-7EE4-1D59173BC014}"/>
              </a:ext>
            </a:extLst>
          </p:cNvPr>
          <p:cNvSpPr/>
          <p:nvPr/>
        </p:nvSpPr>
        <p:spPr>
          <a:xfrm>
            <a:off x="460091" y="5049766"/>
            <a:ext cx="5937820" cy="2078656"/>
          </a:xfrm>
          <a:custGeom>
            <a:avLst/>
            <a:gdLst/>
            <a:ahLst/>
            <a:cxnLst/>
            <a:rect l="l" t="t" r="r" b="b"/>
            <a:pathLst>
              <a:path w="3218815" h="1396364">
                <a:moveTo>
                  <a:pt x="2985871" y="0"/>
                </a:moveTo>
                <a:lnTo>
                  <a:pt x="232714" y="0"/>
                </a:lnTo>
                <a:lnTo>
                  <a:pt x="185814" y="4727"/>
                </a:lnTo>
                <a:lnTo>
                  <a:pt x="142132" y="18288"/>
                </a:lnTo>
                <a:lnTo>
                  <a:pt x="102602" y="39744"/>
                </a:lnTo>
                <a:lnTo>
                  <a:pt x="68160" y="68160"/>
                </a:lnTo>
                <a:lnTo>
                  <a:pt x="39744" y="102602"/>
                </a:lnTo>
                <a:lnTo>
                  <a:pt x="18288" y="142132"/>
                </a:lnTo>
                <a:lnTo>
                  <a:pt x="4727" y="185814"/>
                </a:lnTo>
                <a:lnTo>
                  <a:pt x="0" y="232714"/>
                </a:lnTo>
                <a:lnTo>
                  <a:pt x="0" y="1163523"/>
                </a:lnTo>
                <a:lnTo>
                  <a:pt x="4727" y="1210423"/>
                </a:lnTo>
                <a:lnTo>
                  <a:pt x="18288" y="1254105"/>
                </a:lnTo>
                <a:lnTo>
                  <a:pt x="39744" y="1293635"/>
                </a:lnTo>
                <a:lnTo>
                  <a:pt x="68160" y="1328077"/>
                </a:lnTo>
                <a:lnTo>
                  <a:pt x="102602" y="1356493"/>
                </a:lnTo>
                <a:lnTo>
                  <a:pt x="142132" y="1377950"/>
                </a:lnTo>
                <a:lnTo>
                  <a:pt x="185814" y="1391510"/>
                </a:lnTo>
                <a:lnTo>
                  <a:pt x="232714" y="1396238"/>
                </a:lnTo>
                <a:lnTo>
                  <a:pt x="2985871" y="1396238"/>
                </a:lnTo>
                <a:lnTo>
                  <a:pt x="3032770" y="1391510"/>
                </a:lnTo>
                <a:lnTo>
                  <a:pt x="3076452" y="1377950"/>
                </a:lnTo>
                <a:lnTo>
                  <a:pt x="3115980" y="1356493"/>
                </a:lnTo>
                <a:lnTo>
                  <a:pt x="3150419" y="1328077"/>
                </a:lnTo>
                <a:lnTo>
                  <a:pt x="3178833" y="1293635"/>
                </a:lnTo>
                <a:lnTo>
                  <a:pt x="3200287" y="1254105"/>
                </a:lnTo>
                <a:lnTo>
                  <a:pt x="3213846" y="1210423"/>
                </a:lnTo>
                <a:lnTo>
                  <a:pt x="3218573" y="1163523"/>
                </a:lnTo>
                <a:lnTo>
                  <a:pt x="3218573" y="232714"/>
                </a:lnTo>
                <a:lnTo>
                  <a:pt x="3213846" y="185814"/>
                </a:lnTo>
                <a:lnTo>
                  <a:pt x="3200287" y="142132"/>
                </a:lnTo>
                <a:lnTo>
                  <a:pt x="3178833" y="102602"/>
                </a:lnTo>
                <a:lnTo>
                  <a:pt x="3150419" y="68160"/>
                </a:lnTo>
                <a:lnTo>
                  <a:pt x="3115980" y="39744"/>
                </a:lnTo>
                <a:lnTo>
                  <a:pt x="3076452" y="18288"/>
                </a:lnTo>
                <a:lnTo>
                  <a:pt x="3032770" y="4727"/>
                </a:lnTo>
                <a:lnTo>
                  <a:pt x="2985871" y="0"/>
                </a:lnTo>
                <a:close/>
              </a:path>
            </a:pathLst>
          </a:custGeom>
          <a:solidFill>
            <a:srgbClr val="1F396C">
              <a:alpha val="14900"/>
            </a:srgbClr>
          </a:solidFill>
        </p:spPr>
        <p:txBody>
          <a:bodyPr wrap="square" lIns="182880" tIns="0" rIns="9144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Tax returns for Corporations, LLCs, Partnerships,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Federal, State and Local tax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Consolidated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Complex Tax Returns of Expats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International taxation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Accounting for taxes under US GAAP (ASC 740)</a:t>
            </a:r>
          </a:p>
        </p:txBody>
      </p:sp>
      <p:sp>
        <p:nvSpPr>
          <p:cNvPr id="11" name="object 24">
            <a:extLst>
              <a:ext uri="{FF2B5EF4-FFF2-40B4-BE49-F238E27FC236}">
                <a16:creationId xmlns:a16="http://schemas.microsoft.com/office/drawing/2014/main" id="{079B6834-43F4-23D8-C7AD-E2A85B24E6C4}"/>
              </a:ext>
            </a:extLst>
          </p:cNvPr>
          <p:cNvSpPr/>
          <p:nvPr/>
        </p:nvSpPr>
        <p:spPr>
          <a:xfrm>
            <a:off x="460091" y="5049765"/>
            <a:ext cx="5937820" cy="2078657"/>
          </a:xfrm>
          <a:custGeom>
            <a:avLst/>
            <a:gdLst/>
            <a:ahLst/>
            <a:cxnLst/>
            <a:rect l="l" t="t" r="r" b="b"/>
            <a:pathLst>
              <a:path w="3218815" h="1396364">
                <a:moveTo>
                  <a:pt x="0" y="232714"/>
                </a:moveTo>
                <a:lnTo>
                  <a:pt x="4727" y="185814"/>
                </a:lnTo>
                <a:lnTo>
                  <a:pt x="18288" y="142132"/>
                </a:lnTo>
                <a:lnTo>
                  <a:pt x="39744" y="102602"/>
                </a:lnTo>
                <a:lnTo>
                  <a:pt x="68160" y="68160"/>
                </a:lnTo>
                <a:lnTo>
                  <a:pt x="102602" y="39744"/>
                </a:lnTo>
                <a:lnTo>
                  <a:pt x="142132" y="18288"/>
                </a:lnTo>
                <a:lnTo>
                  <a:pt x="185814" y="4727"/>
                </a:lnTo>
                <a:lnTo>
                  <a:pt x="232714" y="0"/>
                </a:lnTo>
                <a:lnTo>
                  <a:pt x="2985871" y="0"/>
                </a:lnTo>
                <a:lnTo>
                  <a:pt x="3032770" y="4727"/>
                </a:lnTo>
                <a:lnTo>
                  <a:pt x="3076452" y="18288"/>
                </a:lnTo>
                <a:lnTo>
                  <a:pt x="3115980" y="39744"/>
                </a:lnTo>
                <a:lnTo>
                  <a:pt x="3150419" y="68160"/>
                </a:lnTo>
                <a:lnTo>
                  <a:pt x="3178833" y="102602"/>
                </a:lnTo>
                <a:lnTo>
                  <a:pt x="3200287" y="142132"/>
                </a:lnTo>
                <a:lnTo>
                  <a:pt x="3213846" y="185814"/>
                </a:lnTo>
                <a:lnTo>
                  <a:pt x="3218573" y="232714"/>
                </a:lnTo>
                <a:lnTo>
                  <a:pt x="3218573" y="1163523"/>
                </a:lnTo>
                <a:lnTo>
                  <a:pt x="3213846" y="1210423"/>
                </a:lnTo>
                <a:lnTo>
                  <a:pt x="3200287" y="1254105"/>
                </a:lnTo>
                <a:lnTo>
                  <a:pt x="3178833" y="1293635"/>
                </a:lnTo>
                <a:lnTo>
                  <a:pt x="3150419" y="1328077"/>
                </a:lnTo>
                <a:lnTo>
                  <a:pt x="3115980" y="1356493"/>
                </a:lnTo>
                <a:lnTo>
                  <a:pt x="3076452" y="1377950"/>
                </a:lnTo>
                <a:lnTo>
                  <a:pt x="3032770" y="1391510"/>
                </a:lnTo>
                <a:lnTo>
                  <a:pt x="2985871" y="1396238"/>
                </a:lnTo>
                <a:lnTo>
                  <a:pt x="232714" y="1396238"/>
                </a:lnTo>
                <a:lnTo>
                  <a:pt x="185814" y="1391510"/>
                </a:lnTo>
                <a:lnTo>
                  <a:pt x="142132" y="1377950"/>
                </a:lnTo>
                <a:lnTo>
                  <a:pt x="102602" y="1356493"/>
                </a:lnTo>
                <a:lnTo>
                  <a:pt x="68160" y="1328077"/>
                </a:lnTo>
                <a:lnTo>
                  <a:pt x="39744" y="1293635"/>
                </a:lnTo>
                <a:lnTo>
                  <a:pt x="18288" y="1254105"/>
                </a:lnTo>
                <a:lnTo>
                  <a:pt x="4727" y="1210423"/>
                </a:lnTo>
                <a:lnTo>
                  <a:pt x="0" y="1163523"/>
                </a:lnTo>
                <a:lnTo>
                  <a:pt x="0" y="232714"/>
                </a:lnTo>
                <a:close/>
              </a:path>
            </a:pathLst>
          </a:custGeom>
          <a:ln w="25400">
            <a:solidFill>
              <a:srgbClr val="1F396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39">
            <a:extLst>
              <a:ext uri="{FF2B5EF4-FFF2-40B4-BE49-F238E27FC236}">
                <a16:creationId xmlns:a16="http://schemas.microsoft.com/office/drawing/2014/main" id="{1D79BD5F-DE00-C29F-F5FB-41DD7EB40079}"/>
              </a:ext>
            </a:extLst>
          </p:cNvPr>
          <p:cNvSpPr/>
          <p:nvPr/>
        </p:nvSpPr>
        <p:spPr>
          <a:xfrm>
            <a:off x="460091" y="4512624"/>
            <a:ext cx="5937820" cy="380873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1005916" y="0"/>
                </a:moveTo>
                <a:lnTo>
                  <a:pt x="201193" y="0"/>
                </a:lnTo>
                <a:lnTo>
                  <a:pt x="155062" y="5313"/>
                </a:lnTo>
                <a:lnTo>
                  <a:pt x="112715" y="20450"/>
                </a:lnTo>
                <a:lnTo>
                  <a:pt x="75358" y="44201"/>
                </a:lnTo>
                <a:lnTo>
                  <a:pt x="44201" y="75358"/>
                </a:lnTo>
                <a:lnTo>
                  <a:pt x="20450" y="112715"/>
                </a:lnTo>
                <a:lnTo>
                  <a:pt x="5313" y="155062"/>
                </a:lnTo>
                <a:lnTo>
                  <a:pt x="0" y="201193"/>
                </a:lnTo>
                <a:lnTo>
                  <a:pt x="0" y="1170419"/>
                </a:lnTo>
                <a:lnTo>
                  <a:pt x="5313" y="1216549"/>
                </a:lnTo>
                <a:lnTo>
                  <a:pt x="20450" y="1258894"/>
                </a:lnTo>
                <a:lnTo>
                  <a:pt x="44201" y="1296248"/>
                </a:lnTo>
                <a:lnTo>
                  <a:pt x="75358" y="1327403"/>
                </a:lnTo>
                <a:lnTo>
                  <a:pt x="112715" y="1351152"/>
                </a:lnTo>
                <a:lnTo>
                  <a:pt x="155062" y="1366286"/>
                </a:lnTo>
                <a:lnTo>
                  <a:pt x="201193" y="1371599"/>
                </a:lnTo>
                <a:lnTo>
                  <a:pt x="1005916" y="1371599"/>
                </a:lnTo>
                <a:lnTo>
                  <a:pt x="1052046" y="1366286"/>
                </a:lnTo>
                <a:lnTo>
                  <a:pt x="1094394" y="1351152"/>
                </a:lnTo>
                <a:lnTo>
                  <a:pt x="1131750" y="1327403"/>
                </a:lnTo>
                <a:lnTo>
                  <a:pt x="1162908" y="1296248"/>
                </a:lnTo>
                <a:lnTo>
                  <a:pt x="1186659" y="1258894"/>
                </a:lnTo>
                <a:lnTo>
                  <a:pt x="1201795" y="1216549"/>
                </a:lnTo>
                <a:lnTo>
                  <a:pt x="1207109" y="1170419"/>
                </a:lnTo>
                <a:lnTo>
                  <a:pt x="1207109" y="201193"/>
                </a:lnTo>
                <a:lnTo>
                  <a:pt x="1201795" y="155062"/>
                </a:lnTo>
                <a:lnTo>
                  <a:pt x="1186659" y="112715"/>
                </a:lnTo>
                <a:lnTo>
                  <a:pt x="1162908" y="75358"/>
                </a:lnTo>
                <a:lnTo>
                  <a:pt x="1131750" y="44201"/>
                </a:lnTo>
                <a:lnTo>
                  <a:pt x="1094394" y="20450"/>
                </a:lnTo>
                <a:lnTo>
                  <a:pt x="1052046" y="5313"/>
                </a:lnTo>
                <a:lnTo>
                  <a:pt x="1005916" y="0"/>
                </a:lnTo>
                <a:close/>
              </a:path>
            </a:pathLst>
          </a:custGeom>
          <a:solidFill>
            <a:srgbClr val="1F396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Tax Services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3" name="object 40">
            <a:extLst>
              <a:ext uri="{FF2B5EF4-FFF2-40B4-BE49-F238E27FC236}">
                <a16:creationId xmlns:a16="http://schemas.microsoft.com/office/drawing/2014/main" id="{F6D895A3-3FAC-71C2-EEB0-69EC12B7789F}"/>
              </a:ext>
            </a:extLst>
          </p:cNvPr>
          <p:cNvSpPr/>
          <p:nvPr/>
        </p:nvSpPr>
        <p:spPr>
          <a:xfrm>
            <a:off x="460091" y="4512624"/>
            <a:ext cx="5937820" cy="380873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0" y="201193"/>
                </a:moveTo>
                <a:lnTo>
                  <a:pt x="5313" y="155062"/>
                </a:lnTo>
                <a:lnTo>
                  <a:pt x="20450" y="112715"/>
                </a:lnTo>
                <a:lnTo>
                  <a:pt x="44201" y="75358"/>
                </a:lnTo>
                <a:lnTo>
                  <a:pt x="75358" y="44201"/>
                </a:lnTo>
                <a:lnTo>
                  <a:pt x="112715" y="20450"/>
                </a:lnTo>
                <a:lnTo>
                  <a:pt x="155062" y="5313"/>
                </a:lnTo>
                <a:lnTo>
                  <a:pt x="201193" y="0"/>
                </a:lnTo>
                <a:lnTo>
                  <a:pt x="1005916" y="0"/>
                </a:lnTo>
                <a:lnTo>
                  <a:pt x="1052046" y="5313"/>
                </a:lnTo>
                <a:lnTo>
                  <a:pt x="1094394" y="20450"/>
                </a:lnTo>
                <a:lnTo>
                  <a:pt x="1131750" y="44201"/>
                </a:lnTo>
                <a:lnTo>
                  <a:pt x="1162908" y="75358"/>
                </a:lnTo>
                <a:lnTo>
                  <a:pt x="1186659" y="112715"/>
                </a:lnTo>
                <a:lnTo>
                  <a:pt x="1201795" y="155062"/>
                </a:lnTo>
                <a:lnTo>
                  <a:pt x="1207109" y="201193"/>
                </a:lnTo>
                <a:lnTo>
                  <a:pt x="1207109" y="1170419"/>
                </a:lnTo>
                <a:lnTo>
                  <a:pt x="1201795" y="1216549"/>
                </a:lnTo>
                <a:lnTo>
                  <a:pt x="1186659" y="1258894"/>
                </a:lnTo>
                <a:lnTo>
                  <a:pt x="1162908" y="1296248"/>
                </a:lnTo>
                <a:lnTo>
                  <a:pt x="1131750" y="1327403"/>
                </a:lnTo>
                <a:lnTo>
                  <a:pt x="1094394" y="1351152"/>
                </a:lnTo>
                <a:lnTo>
                  <a:pt x="1052046" y="1366286"/>
                </a:lnTo>
                <a:lnTo>
                  <a:pt x="1005916" y="1371599"/>
                </a:lnTo>
                <a:lnTo>
                  <a:pt x="201193" y="1371599"/>
                </a:lnTo>
                <a:lnTo>
                  <a:pt x="155062" y="1366286"/>
                </a:lnTo>
                <a:lnTo>
                  <a:pt x="112715" y="1351152"/>
                </a:lnTo>
                <a:lnTo>
                  <a:pt x="75358" y="1327403"/>
                </a:lnTo>
                <a:lnTo>
                  <a:pt x="44201" y="1296248"/>
                </a:lnTo>
                <a:lnTo>
                  <a:pt x="20450" y="1258894"/>
                </a:lnTo>
                <a:lnTo>
                  <a:pt x="5313" y="1216549"/>
                </a:lnTo>
                <a:lnTo>
                  <a:pt x="0" y="1170419"/>
                </a:lnTo>
                <a:lnTo>
                  <a:pt x="0" y="201193"/>
                </a:lnTo>
                <a:close/>
              </a:path>
            </a:pathLst>
          </a:custGeom>
          <a:ln w="25400">
            <a:solidFill>
              <a:srgbClr val="1F396C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3853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31"/>
          <p:cNvSpPr/>
          <p:nvPr/>
        </p:nvSpPr>
        <p:spPr>
          <a:xfrm>
            <a:off x="460090" y="2024971"/>
            <a:ext cx="5937820" cy="1700922"/>
          </a:xfrm>
          <a:custGeom>
            <a:avLst/>
            <a:gdLst/>
            <a:ahLst/>
            <a:cxnLst/>
            <a:rect l="l" t="t" r="r" b="b"/>
            <a:pathLst>
              <a:path w="3218815" h="1371600">
                <a:moveTo>
                  <a:pt x="2989973" y="0"/>
                </a:moveTo>
                <a:lnTo>
                  <a:pt x="228600" y="0"/>
                </a:ln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0" y="1142987"/>
                </a:lnTo>
                <a:lnTo>
                  <a:pt x="4644" y="1189061"/>
                </a:lnTo>
                <a:lnTo>
                  <a:pt x="17964" y="1231975"/>
                </a:lnTo>
                <a:lnTo>
                  <a:pt x="39041" y="1270808"/>
                </a:lnTo>
                <a:lnTo>
                  <a:pt x="66955" y="1304642"/>
                </a:lnTo>
                <a:lnTo>
                  <a:pt x="100788" y="1332557"/>
                </a:lnTo>
                <a:lnTo>
                  <a:pt x="139619" y="1353635"/>
                </a:lnTo>
                <a:lnTo>
                  <a:pt x="182529" y="1366955"/>
                </a:lnTo>
                <a:lnTo>
                  <a:pt x="228600" y="1371600"/>
                </a:lnTo>
                <a:lnTo>
                  <a:pt x="2989973" y="1371600"/>
                </a:lnTo>
                <a:lnTo>
                  <a:pt x="3036044" y="1366955"/>
                </a:lnTo>
                <a:lnTo>
                  <a:pt x="3078954" y="1353635"/>
                </a:lnTo>
                <a:lnTo>
                  <a:pt x="3117785" y="1332557"/>
                </a:lnTo>
                <a:lnTo>
                  <a:pt x="3151617" y="1304642"/>
                </a:lnTo>
                <a:lnTo>
                  <a:pt x="3179531" y="1270808"/>
                </a:lnTo>
                <a:lnTo>
                  <a:pt x="3200608" y="1231975"/>
                </a:lnTo>
                <a:lnTo>
                  <a:pt x="3213929" y="1189061"/>
                </a:lnTo>
                <a:lnTo>
                  <a:pt x="3218573" y="1142987"/>
                </a:lnTo>
                <a:lnTo>
                  <a:pt x="3218573" y="228600"/>
                </a:lnTo>
                <a:lnTo>
                  <a:pt x="3213929" y="182529"/>
                </a:lnTo>
                <a:lnTo>
                  <a:pt x="3200608" y="139619"/>
                </a:lnTo>
                <a:lnTo>
                  <a:pt x="3179531" y="100788"/>
                </a:lnTo>
                <a:lnTo>
                  <a:pt x="3151617" y="66955"/>
                </a:lnTo>
                <a:lnTo>
                  <a:pt x="3117785" y="39041"/>
                </a:lnTo>
                <a:lnTo>
                  <a:pt x="3078954" y="17964"/>
                </a:lnTo>
                <a:lnTo>
                  <a:pt x="3036044" y="4644"/>
                </a:lnTo>
                <a:lnTo>
                  <a:pt x="2989973" y="0"/>
                </a:lnTo>
                <a:close/>
              </a:path>
            </a:pathLst>
          </a:custGeom>
          <a:solidFill>
            <a:srgbClr val="7C7EA6">
              <a:alpha val="14900"/>
            </a:srgbClr>
          </a:solidFill>
        </p:spPr>
        <p:txBody>
          <a:bodyPr wrap="square" lIns="182880" tIns="0" rIns="9144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Full charge bookkeeping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Assistance to existing accounting team in specific functions /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Finalization of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Preparation of financial statements</a:t>
            </a:r>
          </a:p>
        </p:txBody>
      </p:sp>
      <p:sp>
        <p:nvSpPr>
          <p:cNvPr id="20" name="object 32"/>
          <p:cNvSpPr/>
          <p:nvPr/>
        </p:nvSpPr>
        <p:spPr>
          <a:xfrm>
            <a:off x="460090" y="2024971"/>
            <a:ext cx="5937820" cy="1700922"/>
          </a:xfrm>
          <a:custGeom>
            <a:avLst/>
            <a:gdLst/>
            <a:ahLst/>
            <a:cxnLst/>
            <a:rect l="l" t="t" r="r" b="b"/>
            <a:pathLst>
              <a:path w="3218815" h="13716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989973" y="0"/>
                </a:lnTo>
                <a:lnTo>
                  <a:pt x="3036044" y="4644"/>
                </a:lnTo>
                <a:lnTo>
                  <a:pt x="3078954" y="17964"/>
                </a:lnTo>
                <a:lnTo>
                  <a:pt x="3117785" y="39041"/>
                </a:lnTo>
                <a:lnTo>
                  <a:pt x="3151617" y="66955"/>
                </a:lnTo>
                <a:lnTo>
                  <a:pt x="3179531" y="100788"/>
                </a:lnTo>
                <a:lnTo>
                  <a:pt x="3200608" y="139619"/>
                </a:lnTo>
                <a:lnTo>
                  <a:pt x="3213929" y="182529"/>
                </a:lnTo>
                <a:lnTo>
                  <a:pt x="3218573" y="228600"/>
                </a:lnTo>
                <a:lnTo>
                  <a:pt x="3218573" y="1142987"/>
                </a:lnTo>
                <a:lnTo>
                  <a:pt x="3213929" y="1189061"/>
                </a:lnTo>
                <a:lnTo>
                  <a:pt x="3200608" y="1231975"/>
                </a:lnTo>
                <a:lnTo>
                  <a:pt x="3179531" y="1270808"/>
                </a:lnTo>
                <a:lnTo>
                  <a:pt x="3151617" y="1304642"/>
                </a:lnTo>
                <a:lnTo>
                  <a:pt x="3117785" y="1332557"/>
                </a:lnTo>
                <a:lnTo>
                  <a:pt x="3078954" y="1353635"/>
                </a:lnTo>
                <a:lnTo>
                  <a:pt x="3036044" y="1366955"/>
                </a:lnTo>
                <a:lnTo>
                  <a:pt x="2989973" y="1371600"/>
                </a:lnTo>
                <a:lnTo>
                  <a:pt x="228600" y="1371600"/>
                </a:lnTo>
                <a:lnTo>
                  <a:pt x="182529" y="1366955"/>
                </a:lnTo>
                <a:lnTo>
                  <a:pt x="139619" y="1353635"/>
                </a:lnTo>
                <a:lnTo>
                  <a:pt x="100788" y="1332557"/>
                </a:lnTo>
                <a:lnTo>
                  <a:pt x="66955" y="1304642"/>
                </a:lnTo>
                <a:lnTo>
                  <a:pt x="39041" y="1270808"/>
                </a:lnTo>
                <a:lnTo>
                  <a:pt x="17964" y="1231975"/>
                </a:lnTo>
                <a:lnTo>
                  <a:pt x="4644" y="1189061"/>
                </a:lnTo>
                <a:lnTo>
                  <a:pt x="0" y="1142987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7C7EA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35"/>
          <p:cNvSpPr/>
          <p:nvPr/>
        </p:nvSpPr>
        <p:spPr>
          <a:xfrm>
            <a:off x="460090" y="4431219"/>
            <a:ext cx="5934456" cy="1814673"/>
          </a:xfrm>
          <a:custGeom>
            <a:avLst/>
            <a:gdLst/>
            <a:ahLst/>
            <a:cxnLst/>
            <a:rect l="l" t="t" r="r" b="b"/>
            <a:pathLst>
              <a:path w="3218815" h="1371600">
                <a:moveTo>
                  <a:pt x="2989973" y="0"/>
                </a:moveTo>
                <a:lnTo>
                  <a:pt x="228600" y="0"/>
                </a:ln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0" y="1142987"/>
                </a:lnTo>
                <a:lnTo>
                  <a:pt x="4644" y="1189061"/>
                </a:lnTo>
                <a:lnTo>
                  <a:pt x="17964" y="1231975"/>
                </a:lnTo>
                <a:lnTo>
                  <a:pt x="39041" y="1270808"/>
                </a:lnTo>
                <a:lnTo>
                  <a:pt x="66955" y="1304642"/>
                </a:lnTo>
                <a:lnTo>
                  <a:pt x="100788" y="1332557"/>
                </a:lnTo>
                <a:lnTo>
                  <a:pt x="139619" y="1353635"/>
                </a:lnTo>
                <a:lnTo>
                  <a:pt x="182529" y="1366955"/>
                </a:lnTo>
                <a:lnTo>
                  <a:pt x="228600" y="1371599"/>
                </a:lnTo>
                <a:lnTo>
                  <a:pt x="2989973" y="1371599"/>
                </a:lnTo>
                <a:lnTo>
                  <a:pt x="3036044" y="1366955"/>
                </a:lnTo>
                <a:lnTo>
                  <a:pt x="3078954" y="1353635"/>
                </a:lnTo>
                <a:lnTo>
                  <a:pt x="3117785" y="1332557"/>
                </a:lnTo>
                <a:lnTo>
                  <a:pt x="3151617" y="1304642"/>
                </a:lnTo>
                <a:lnTo>
                  <a:pt x="3179531" y="1270808"/>
                </a:lnTo>
                <a:lnTo>
                  <a:pt x="3200608" y="1231975"/>
                </a:lnTo>
                <a:lnTo>
                  <a:pt x="3213929" y="1189061"/>
                </a:lnTo>
                <a:lnTo>
                  <a:pt x="3218573" y="1142987"/>
                </a:lnTo>
                <a:lnTo>
                  <a:pt x="3218573" y="228599"/>
                </a:lnTo>
                <a:lnTo>
                  <a:pt x="3213929" y="182529"/>
                </a:lnTo>
                <a:lnTo>
                  <a:pt x="3200608" y="139619"/>
                </a:lnTo>
                <a:lnTo>
                  <a:pt x="3179531" y="100788"/>
                </a:lnTo>
                <a:lnTo>
                  <a:pt x="3151617" y="66955"/>
                </a:lnTo>
                <a:lnTo>
                  <a:pt x="3117785" y="39041"/>
                </a:lnTo>
                <a:lnTo>
                  <a:pt x="3078954" y="17964"/>
                </a:lnTo>
                <a:lnTo>
                  <a:pt x="3036044" y="4644"/>
                </a:lnTo>
                <a:lnTo>
                  <a:pt x="2989973" y="0"/>
                </a:lnTo>
                <a:close/>
              </a:path>
            </a:pathLst>
          </a:custGeom>
          <a:solidFill>
            <a:srgbClr val="84B6C5">
              <a:alpha val="14900"/>
            </a:srgbClr>
          </a:solidFill>
        </p:spPr>
        <p:txBody>
          <a:bodyPr wrap="square" lIns="182880" tIns="0" rIns="9144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Business valuations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MIS reports based on requirements of Management, size &amp; nature of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Prepare regular reports as per required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396C"/>
                </a:solidFill>
              </a:rPr>
              <a:t>Example – Inventory movement, segmental P&amp;L, working capital analysis</a:t>
            </a:r>
          </a:p>
        </p:txBody>
      </p:sp>
      <p:sp>
        <p:nvSpPr>
          <p:cNvPr id="23" name="object 36"/>
          <p:cNvSpPr/>
          <p:nvPr/>
        </p:nvSpPr>
        <p:spPr>
          <a:xfrm>
            <a:off x="460090" y="4431219"/>
            <a:ext cx="5934456" cy="1814673"/>
          </a:xfrm>
          <a:custGeom>
            <a:avLst/>
            <a:gdLst/>
            <a:ahLst/>
            <a:cxnLst/>
            <a:rect l="l" t="t" r="r" b="b"/>
            <a:pathLst>
              <a:path w="3218815" h="1371600">
                <a:moveTo>
                  <a:pt x="0" y="228599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989973" y="0"/>
                </a:lnTo>
                <a:lnTo>
                  <a:pt x="3036044" y="4644"/>
                </a:lnTo>
                <a:lnTo>
                  <a:pt x="3078954" y="17964"/>
                </a:lnTo>
                <a:lnTo>
                  <a:pt x="3117785" y="39041"/>
                </a:lnTo>
                <a:lnTo>
                  <a:pt x="3151617" y="66955"/>
                </a:lnTo>
                <a:lnTo>
                  <a:pt x="3179531" y="100788"/>
                </a:lnTo>
                <a:lnTo>
                  <a:pt x="3200608" y="139619"/>
                </a:lnTo>
                <a:lnTo>
                  <a:pt x="3213929" y="182529"/>
                </a:lnTo>
                <a:lnTo>
                  <a:pt x="3218573" y="228599"/>
                </a:lnTo>
                <a:lnTo>
                  <a:pt x="3218573" y="1142987"/>
                </a:lnTo>
                <a:lnTo>
                  <a:pt x="3213929" y="1189061"/>
                </a:lnTo>
                <a:lnTo>
                  <a:pt x="3200608" y="1231975"/>
                </a:lnTo>
                <a:lnTo>
                  <a:pt x="3179531" y="1270808"/>
                </a:lnTo>
                <a:lnTo>
                  <a:pt x="3151617" y="1304642"/>
                </a:lnTo>
                <a:lnTo>
                  <a:pt x="3117785" y="1332557"/>
                </a:lnTo>
                <a:lnTo>
                  <a:pt x="3078954" y="1353635"/>
                </a:lnTo>
                <a:lnTo>
                  <a:pt x="3036044" y="1366955"/>
                </a:lnTo>
                <a:lnTo>
                  <a:pt x="2989973" y="1371599"/>
                </a:lnTo>
                <a:lnTo>
                  <a:pt x="228600" y="1371599"/>
                </a:lnTo>
                <a:lnTo>
                  <a:pt x="182529" y="1366955"/>
                </a:lnTo>
                <a:lnTo>
                  <a:pt x="139619" y="1353635"/>
                </a:lnTo>
                <a:lnTo>
                  <a:pt x="100788" y="1332557"/>
                </a:lnTo>
                <a:lnTo>
                  <a:pt x="66955" y="1304642"/>
                </a:lnTo>
                <a:lnTo>
                  <a:pt x="39041" y="1270808"/>
                </a:lnTo>
                <a:lnTo>
                  <a:pt x="17964" y="1231975"/>
                </a:lnTo>
                <a:lnTo>
                  <a:pt x="4644" y="1189061"/>
                </a:lnTo>
                <a:lnTo>
                  <a:pt x="0" y="1142987"/>
                </a:lnTo>
                <a:lnTo>
                  <a:pt x="0" y="228599"/>
                </a:lnTo>
                <a:close/>
              </a:path>
            </a:pathLst>
          </a:custGeom>
          <a:ln w="25400">
            <a:solidFill>
              <a:srgbClr val="84B6C5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49"/>
          <p:cNvSpPr/>
          <p:nvPr/>
        </p:nvSpPr>
        <p:spPr>
          <a:xfrm>
            <a:off x="460090" y="1483459"/>
            <a:ext cx="5937820" cy="380873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1005916" y="0"/>
                </a:moveTo>
                <a:lnTo>
                  <a:pt x="201193" y="0"/>
                </a:lnTo>
                <a:lnTo>
                  <a:pt x="155062" y="5313"/>
                </a:lnTo>
                <a:lnTo>
                  <a:pt x="112715" y="20450"/>
                </a:lnTo>
                <a:lnTo>
                  <a:pt x="75358" y="44201"/>
                </a:lnTo>
                <a:lnTo>
                  <a:pt x="44201" y="75358"/>
                </a:lnTo>
                <a:lnTo>
                  <a:pt x="20450" y="112715"/>
                </a:lnTo>
                <a:lnTo>
                  <a:pt x="5313" y="155062"/>
                </a:lnTo>
                <a:lnTo>
                  <a:pt x="0" y="201193"/>
                </a:lnTo>
                <a:lnTo>
                  <a:pt x="0" y="1170419"/>
                </a:lnTo>
                <a:lnTo>
                  <a:pt x="5313" y="1216549"/>
                </a:lnTo>
                <a:lnTo>
                  <a:pt x="20450" y="1258894"/>
                </a:lnTo>
                <a:lnTo>
                  <a:pt x="44201" y="1296248"/>
                </a:lnTo>
                <a:lnTo>
                  <a:pt x="75358" y="1327403"/>
                </a:lnTo>
                <a:lnTo>
                  <a:pt x="112715" y="1351152"/>
                </a:lnTo>
                <a:lnTo>
                  <a:pt x="155062" y="1366286"/>
                </a:lnTo>
                <a:lnTo>
                  <a:pt x="201193" y="1371599"/>
                </a:lnTo>
                <a:lnTo>
                  <a:pt x="1005916" y="1371599"/>
                </a:lnTo>
                <a:lnTo>
                  <a:pt x="1052046" y="1366286"/>
                </a:lnTo>
                <a:lnTo>
                  <a:pt x="1094394" y="1351152"/>
                </a:lnTo>
                <a:lnTo>
                  <a:pt x="1131750" y="1327403"/>
                </a:lnTo>
                <a:lnTo>
                  <a:pt x="1162908" y="1296248"/>
                </a:lnTo>
                <a:lnTo>
                  <a:pt x="1186659" y="1258894"/>
                </a:lnTo>
                <a:lnTo>
                  <a:pt x="1201795" y="1216549"/>
                </a:lnTo>
                <a:lnTo>
                  <a:pt x="1207109" y="1170419"/>
                </a:lnTo>
                <a:lnTo>
                  <a:pt x="1207109" y="201193"/>
                </a:lnTo>
                <a:lnTo>
                  <a:pt x="1201795" y="155062"/>
                </a:lnTo>
                <a:lnTo>
                  <a:pt x="1186659" y="112715"/>
                </a:lnTo>
                <a:lnTo>
                  <a:pt x="1162908" y="75358"/>
                </a:lnTo>
                <a:lnTo>
                  <a:pt x="1131750" y="44201"/>
                </a:lnTo>
                <a:lnTo>
                  <a:pt x="1094394" y="20450"/>
                </a:lnTo>
                <a:lnTo>
                  <a:pt x="1052046" y="5313"/>
                </a:lnTo>
                <a:lnTo>
                  <a:pt x="1005916" y="0"/>
                </a:lnTo>
                <a:close/>
              </a:path>
            </a:pathLst>
          </a:custGeom>
          <a:solidFill>
            <a:srgbClr val="7C7EA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Accounting Services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3" name="object 50"/>
          <p:cNvSpPr/>
          <p:nvPr/>
        </p:nvSpPr>
        <p:spPr>
          <a:xfrm>
            <a:off x="460090" y="1483459"/>
            <a:ext cx="5937820" cy="380873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0" y="201193"/>
                </a:moveTo>
                <a:lnTo>
                  <a:pt x="5313" y="155062"/>
                </a:lnTo>
                <a:lnTo>
                  <a:pt x="20450" y="112715"/>
                </a:lnTo>
                <a:lnTo>
                  <a:pt x="44201" y="75358"/>
                </a:lnTo>
                <a:lnTo>
                  <a:pt x="75358" y="44201"/>
                </a:lnTo>
                <a:lnTo>
                  <a:pt x="112715" y="20450"/>
                </a:lnTo>
                <a:lnTo>
                  <a:pt x="155062" y="5313"/>
                </a:lnTo>
                <a:lnTo>
                  <a:pt x="201193" y="0"/>
                </a:lnTo>
                <a:lnTo>
                  <a:pt x="1005916" y="0"/>
                </a:lnTo>
                <a:lnTo>
                  <a:pt x="1052046" y="5313"/>
                </a:lnTo>
                <a:lnTo>
                  <a:pt x="1094394" y="20450"/>
                </a:lnTo>
                <a:lnTo>
                  <a:pt x="1131750" y="44201"/>
                </a:lnTo>
                <a:lnTo>
                  <a:pt x="1162908" y="75358"/>
                </a:lnTo>
                <a:lnTo>
                  <a:pt x="1186659" y="112715"/>
                </a:lnTo>
                <a:lnTo>
                  <a:pt x="1201795" y="155062"/>
                </a:lnTo>
                <a:lnTo>
                  <a:pt x="1207109" y="201193"/>
                </a:lnTo>
                <a:lnTo>
                  <a:pt x="1207109" y="1170419"/>
                </a:lnTo>
                <a:lnTo>
                  <a:pt x="1201795" y="1216549"/>
                </a:lnTo>
                <a:lnTo>
                  <a:pt x="1186659" y="1258894"/>
                </a:lnTo>
                <a:lnTo>
                  <a:pt x="1162908" y="1296248"/>
                </a:lnTo>
                <a:lnTo>
                  <a:pt x="1131750" y="1327403"/>
                </a:lnTo>
                <a:lnTo>
                  <a:pt x="1094394" y="1351152"/>
                </a:lnTo>
                <a:lnTo>
                  <a:pt x="1052046" y="1366286"/>
                </a:lnTo>
                <a:lnTo>
                  <a:pt x="1005916" y="1371599"/>
                </a:lnTo>
                <a:lnTo>
                  <a:pt x="201193" y="1371599"/>
                </a:lnTo>
                <a:lnTo>
                  <a:pt x="155062" y="1366286"/>
                </a:lnTo>
                <a:lnTo>
                  <a:pt x="112715" y="1351152"/>
                </a:lnTo>
                <a:lnTo>
                  <a:pt x="75358" y="1327403"/>
                </a:lnTo>
                <a:lnTo>
                  <a:pt x="44201" y="1296248"/>
                </a:lnTo>
                <a:lnTo>
                  <a:pt x="20450" y="1258894"/>
                </a:lnTo>
                <a:lnTo>
                  <a:pt x="5313" y="1216549"/>
                </a:lnTo>
                <a:lnTo>
                  <a:pt x="0" y="1170419"/>
                </a:lnTo>
                <a:lnTo>
                  <a:pt x="0" y="201193"/>
                </a:lnTo>
                <a:close/>
              </a:path>
            </a:pathLst>
          </a:custGeom>
          <a:ln w="25400">
            <a:solidFill>
              <a:srgbClr val="7C7EA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53"/>
          <p:cNvSpPr/>
          <p:nvPr/>
        </p:nvSpPr>
        <p:spPr>
          <a:xfrm>
            <a:off x="460090" y="3886532"/>
            <a:ext cx="5934456" cy="384048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1005916" y="0"/>
                </a:moveTo>
                <a:lnTo>
                  <a:pt x="201193" y="0"/>
                </a:lnTo>
                <a:lnTo>
                  <a:pt x="155062" y="5313"/>
                </a:lnTo>
                <a:lnTo>
                  <a:pt x="112715" y="20450"/>
                </a:lnTo>
                <a:lnTo>
                  <a:pt x="75358" y="44201"/>
                </a:lnTo>
                <a:lnTo>
                  <a:pt x="44201" y="75358"/>
                </a:lnTo>
                <a:lnTo>
                  <a:pt x="20450" y="112715"/>
                </a:lnTo>
                <a:lnTo>
                  <a:pt x="5313" y="155062"/>
                </a:lnTo>
                <a:lnTo>
                  <a:pt x="0" y="201193"/>
                </a:lnTo>
                <a:lnTo>
                  <a:pt x="0" y="1170419"/>
                </a:lnTo>
                <a:lnTo>
                  <a:pt x="5313" y="1216549"/>
                </a:lnTo>
                <a:lnTo>
                  <a:pt x="20450" y="1258894"/>
                </a:lnTo>
                <a:lnTo>
                  <a:pt x="44201" y="1296248"/>
                </a:lnTo>
                <a:lnTo>
                  <a:pt x="75358" y="1327403"/>
                </a:lnTo>
                <a:lnTo>
                  <a:pt x="112715" y="1351152"/>
                </a:lnTo>
                <a:lnTo>
                  <a:pt x="155062" y="1366286"/>
                </a:lnTo>
                <a:lnTo>
                  <a:pt x="201193" y="1371599"/>
                </a:lnTo>
                <a:lnTo>
                  <a:pt x="1005916" y="1371599"/>
                </a:lnTo>
                <a:lnTo>
                  <a:pt x="1052046" y="1366286"/>
                </a:lnTo>
                <a:lnTo>
                  <a:pt x="1094394" y="1351152"/>
                </a:lnTo>
                <a:lnTo>
                  <a:pt x="1131750" y="1327403"/>
                </a:lnTo>
                <a:lnTo>
                  <a:pt x="1162908" y="1296248"/>
                </a:lnTo>
                <a:lnTo>
                  <a:pt x="1186659" y="1258894"/>
                </a:lnTo>
                <a:lnTo>
                  <a:pt x="1201795" y="1216549"/>
                </a:lnTo>
                <a:lnTo>
                  <a:pt x="1207109" y="1170419"/>
                </a:lnTo>
                <a:lnTo>
                  <a:pt x="1207109" y="201193"/>
                </a:lnTo>
                <a:lnTo>
                  <a:pt x="1201795" y="155062"/>
                </a:lnTo>
                <a:lnTo>
                  <a:pt x="1186659" y="112715"/>
                </a:lnTo>
                <a:lnTo>
                  <a:pt x="1162908" y="75358"/>
                </a:lnTo>
                <a:lnTo>
                  <a:pt x="1131750" y="44201"/>
                </a:lnTo>
                <a:lnTo>
                  <a:pt x="1094394" y="20450"/>
                </a:lnTo>
                <a:lnTo>
                  <a:pt x="1052046" y="5313"/>
                </a:lnTo>
                <a:lnTo>
                  <a:pt x="1005916" y="0"/>
                </a:lnTo>
                <a:close/>
              </a:path>
            </a:pathLst>
          </a:custGeom>
          <a:solidFill>
            <a:srgbClr val="84B6C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Valuation and MIS Services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6" name="object 54"/>
          <p:cNvSpPr/>
          <p:nvPr/>
        </p:nvSpPr>
        <p:spPr>
          <a:xfrm>
            <a:off x="460090" y="3886532"/>
            <a:ext cx="5937820" cy="384048"/>
          </a:xfrm>
          <a:custGeom>
            <a:avLst/>
            <a:gdLst/>
            <a:ahLst/>
            <a:cxnLst/>
            <a:rect l="l" t="t" r="r" b="b"/>
            <a:pathLst>
              <a:path w="1207135" h="1371600">
                <a:moveTo>
                  <a:pt x="0" y="201193"/>
                </a:moveTo>
                <a:lnTo>
                  <a:pt x="5313" y="155062"/>
                </a:lnTo>
                <a:lnTo>
                  <a:pt x="20450" y="112715"/>
                </a:lnTo>
                <a:lnTo>
                  <a:pt x="44201" y="75358"/>
                </a:lnTo>
                <a:lnTo>
                  <a:pt x="75358" y="44201"/>
                </a:lnTo>
                <a:lnTo>
                  <a:pt x="112715" y="20450"/>
                </a:lnTo>
                <a:lnTo>
                  <a:pt x="155062" y="5313"/>
                </a:lnTo>
                <a:lnTo>
                  <a:pt x="201193" y="0"/>
                </a:lnTo>
                <a:lnTo>
                  <a:pt x="1005916" y="0"/>
                </a:lnTo>
                <a:lnTo>
                  <a:pt x="1052046" y="5313"/>
                </a:lnTo>
                <a:lnTo>
                  <a:pt x="1094394" y="20450"/>
                </a:lnTo>
                <a:lnTo>
                  <a:pt x="1131750" y="44201"/>
                </a:lnTo>
                <a:lnTo>
                  <a:pt x="1162908" y="75358"/>
                </a:lnTo>
                <a:lnTo>
                  <a:pt x="1186659" y="112715"/>
                </a:lnTo>
                <a:lnTo>
                  <a:pt x="1201795" y="155062"/>
                </a:lnTo>
                <a:lnTo>
                  <a:pt x="1207109" y="201193"/>
                </a:lnTo>
                <a:lnTo>
                  <a:pt x="1207109" y="1170419"/>
                </a:lnTo>
                <a:lnTo>
                  <a:pt x="1201795" y="1216549"/>
                </a:lnTo>
                <a:lnTo>
                  <a:pt x="1186659" y="1258894"/>
                </a:lnTo>
                <a:lnTo>
                  <a:pt x="1162908" y="1296248"/>
                </a:lnTo>
                <a:lnTo>
                  <a:pt x="1131750" y="1327403"/>
                </a:lnTo>
                <a:lnTo>
                  <a:pt x="1094394" y="1351152"/>
                </a:lnTo>
                <a:lnTo>
                  <a:pt x="1052046" y="1366286"/>
                </a:lnTo>
                <a:lnTo>
                  <a:pt x="1005916" y="1371599"/>
                </a:lnTo>
                <a:lnTo>
                  <a:pt x="201193" y="1371599"/>
                </a:lnTo>
                <a:lnTo>
                  <a:pt x="155062" y="1366286"/>
                </a:lnTo>
                <a:lnTo>
                  <a:pt x="112715" y="1351152"/>
                </a:lnTo>
                <a:lnTo>
                  <a:pt x="75358" y="1327403"/>
                </a:lnTo>
                <a:lnTo>
                  <a:pt x="44201" y="1296248"/>
                </a:lnTo>
                <a:lnTo>
                  <a:pt x="20450" y="1258894"/>
                </a:lnTo>
                <a:lnTo>
                  <a:pt x="5313" y="1216549"/>
                </a:lnTo>
                <a:lnTo>
                  <a:pt x="0" y="1170419"/>
                </a:lnTo>
                <a:lnTo>
                  <a:pt x="0" y="201193"/>
                </a:lnTo>
                <a:close/>
              </a:path>
            </a:pathLst>
          </a:custGeom>
          <a:ln w="25400">
            <a:solidFill>
              <a:srgbClr val="84B6C5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11">
            <a:extLst>
              <a:ext uri="{FF2B5EF4-FFF2-40B4-BE49-F238E27FC236}">
                <a16:creationId xmlns:a16="http://schemas.microsoft.com/office/drawing/2014/main" id="{903EC38E-0A42-4422-8C4D-14E907AF1F4C}"/>
              </a:ext>
            </a:extLst>
          </p:cNvPr>
          <p:cNvSpPr txBox="1">
            <a:spLocks/>
          </p:cNvSpPr>
          <p:nvPr/>
        </p:nvSpPr>
        <p:spPr>
          <a:xfrm>
            <a:off x="363380" y="217728"/>
            <a:ext cx="5195591" cy="44242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lang="en-US" sz="2800" spc="10" dirty="0">
                <a:solidFill>
                  <a:srgbClr val="1F396C"/>
                </a:solidFill>
                <a:latin typeface="+mn-lt"/>
                <a:ea typeface="+mn-ea"/>
                <a:cs typeface="+mn-cs"/>
              </a:rPr>
              <a:t>Omney CPA</a:t>
            </a:r>
          </a:p>
        </p:txBody>
      </p:sp>
      <p:sp>
        <p:nvSpPr>
          <p:cNvPr id="50" name="object 11">
            <a:extLst>
              <a:ext uri="{FF2B5EF4-FFF2-40B4-BE49-F238E27FC236}">
                <a16:creationId xmlns:a16="http://schemas.microsoft.com/office/drawing/2014/main" id="{CD065AFE-DFAD-409F-947C-2DB539C913EA}"/>
              </a:ext>
            </a:extLst>
          </p:cNvPr>
          <p:cNvSpPr txBox="1">
            <a:spLocks/>
          </p:cNvSpPr>
          <p:nvPr/>
        </p:nvSpPr>
        <p:spPr>
          <a:xfrm>
            <a:off x="363380" y="660157"/>
            <a:ext cx="5195591" cy="38087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kumimoji="0" lang="en-US" sz="2400" b="0" i="0" u="none" strike="noStrike" kern="0" cap="none" spc="-90" normalizeH="0" baseline="0" noProof="0" dirty="0">
                <a:ln>
                  <a:noFill/>
                </a:ln>
                <a:solidFill>
                  <a:srgbClr val="748BAB"/>
                </a:solidFill>
                <a:effectLst/>
                <a:uLnTx/>
                <a:uFillTx/>
                <a:latin typeface="+mn-lt"/>
                <a:ea typeface="+mj-ea"/>
                <a:cs typeface="Arial"/>
              </a:rPr>
              <a:t>Tax and Accounting Services (2/2)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8633FD-CED6-40DE-AE9A-69252939B2DE}"/>
              </a:ext>
            </a:extLst>
          </p:cNvPr>
          <p:cNvSpPr txBox="1"/>
          <p:nvPr/>
        </p:nvSpPr>
        <p:spPr>
          <a:xfrm>
            <a:off x="2373263" y="8851938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This profile is only for informational purposes.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62B626-FE76-4E7E-B14E-2B9CEDE42A3A}"/>
              </a:ext>
            </a:extLst>
          </p:cNvPr>
          <p:cNvCxnSpPr>
            <a:cxnSpLocks/>
          </p:cNvCxnSpPr>
          <p:nvPr/>
        </p:nvCxnSpPr>
        <p:spPr>
          <a:xfrm>
            <a:off x="396813" y="6503099"/>
            <a:ext cx="6141933" cy="0"/>
          </a:xfrm>
          <a:prstGeom prst="line">
            <a:avLst/>
          </a:prstGeom>
          <a:ln w="22225">
            <a:solidFill>
              <a:srgbClr val="2539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6">
            <a:extLst>
              <a:ext uri="{FF2B5EF4-FFF2-40B4-BE49-F238E27FC236}">
                <a16:creationId xmlns:a16="http://schemas.microsoft.com/office/drawing/2014/main" id="{3EF2D064-408B-4AF3-9A05-2DD1656D2A35}"/>
              </a:ext>
            </a:extLst>
          </p:cNvPr>
          <p:cNvSpPr txBox="1"/>
          <p:nvPr/>
        </p:nvSpPr>
        <p:spPr>
          <a:xfrm>
            <a:off x="363380" y="6951677"/>
            <a:ext cx="6131240" cy="17559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Businesses in industries of investment funds, hedge funds, IT services, healthcare benefits management, staffing firms, education, exports, gas stations, restaurants, C-stores, etc.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Individuals who are business owners, expats, self-employed, W2 salaried, 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D203C-5A2F-45F3-B987-EAFA2B1D6624}"/>
              </a:ext>
            </a:extLst>
          </p:cNvPr>
          <p:cNvSpPr txBox="1"/>
          <p:nvPr/>
        </p:nvSpPr>
        <p:spPr>
          <a:xfrm>
            <a:off x="363380" y="6514085"/>
            <a:ext cx="5195591" cy="492443"/>
          </a:xfrm>
          <a:prstGeom prst="rect">
            <a:avLst/>
          </a:prstGeom>
          <a:ln>
            <a:noFill/>
          </a:ln>
        </p:spPr>
        <p:txBody>
          <a:bodyPr vert="horz" wrap="square" lIns="0" tIns="91440" rIns="0" bIns="91440" rtlCol="0" anchor="t">
            <a:spAutoFit/>
          </a:bodyPr>
          <a:lstStyle>
            <a:defPPr>
              <a:defRPr lang="en-US"/>
            </a:defPPr>
            <a:lvl1pPr marL="297815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§"/>
              <a:tabLst>
                <a:tab pos="174625" algn="l"/>
              </a:tabLst>
              <a:defRPr spc="10">
                <a:solidFill>
                  <a:srgbClr val="1F396C"/>
                </a:solidFill>
              </a:defRPr>
            </a:lvl1pPr>
            <a:lvl2pPr marL="755015" lvl="1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Ø"/>
              <a:tabLst>
                <a:tab pos="174625" algn="l"/>
              </a:tabLst>
              <a:defRPr spc="10">
                <a:solidFill>
                  <a:srgbClr val="1F396C"/>
                </a:solidFill>
                <a:cs typeface="Calibri" panose="020F0502020204030204"/>
              </a:defRPr>
            </a:lvl2pPr>
          </a:lstStyle>
          <a:p>
            <a:pPr marL="12065" indent="0">
              <a:buNone/>
            </a:pPr>
            <a:r>
              <a:rPr lang="en-US" sz="2000" b="1" dirty="0">
                <a:cs typeface="Arial MT"/>
              </a:rPr>
              <a:t>Illustrative Clientele Profile</a:t>
            </a:r>
          </a:p>
        </p:txBody>
      </p:sp>
    </p:spTree>
    <p:extLst>
      <p:ext uri="{BB962C8B-B14F-4D97-AF65-F5344CB8AC3E}">
        <p14:creationId xmlns:p14="http://schemas.microsoft.com/office/powerpoint/2010/main" val="242294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9E24B-583E-422F-9E0D-8A68B73BF5FA}"/>
              </a:ext>
            </a:extLst>
          </p:cNvPr>
          <p:cNvSpPr txBox="1"/>
          <p:nvPr/>
        </p:nvSpPr>
        <p:spPr>
          <a:xfrm>
            <a:off x="2373263" y="8851938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This profile is only for informational purposes.</a:t>
            </a:r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F278EB35-96A9-44E9-BFC6-60B55FBA62E4}"/>
              </a:ext>
            </a:extLst>
          </p:cNvPr>
          <p:cNvSpPr txBox="1">
            <a:spLocks/>
          </p:cNvSpPr>
          <p:nvPr/>
        </p:nvSpPr>
        <p:spPr>
          <a:xfrm>
            <a:off x="363380" y="217728"/>
            <a:ext cx="5195591" cy="44242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lang="en-US" sz="2800" spc="10" dirty="0">
                <a:solidFill>
                  <a:srgbClr val="1F396C"/>
                </a:solidFill>
                <a:latin typeface="+mn-lt"/>
                <a:ea typeface="+mn-ea"/>
                <a:cs typeface="+mn-cs"/>
              </a:rPr>
              <a:t>Omney CPA</a:t>
            </a: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5C61D27A-1ACB-4508-93C7-91B8C16918F5}"/>
              </a:ext>
            </a:extLst>
          </p:cNvPr>
          <p:cNvSpPr txBox="1">
            <a:spLocks/>
          </p:cNvSpPr>
          <p:nvPr/>
        </p:nvSpPr>
        <p:spPr>
          <a:xfrm>
            <a:off x="363380" y="660157"/>
            <a:ext cx="5195591" cy="38087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lvl1pPr>
              <a:defRPr sz="1950" b="1" i="0">
                <a:solidFill>
                  <a:srgbClr val="748BAB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  <a:defRPr/>
            </a:pPr>
            <a:r>
              <a:rPr kumimoji="0" lang="en-US" sz="2400" b="0" i="0" u="none" strike="noStrike" kern="0" cap="none" spc="-90" normalizeH="0" baseline="0" noProof="0" dirty="0">
                <a:ln>
                  <a:noFill/>
                </a:ln>
                <a:solidFill>
                  <a:srgbClr val="748BAB"/>
                </a:solidFill>
                <a:effectLst/>
                <a:uLnTx/>
                <a:uFillTx/>
                <a:latin typeface="+mn-lt"/>
                <a:ea typeface="+mj-ea"/>
                <a:cs typeface="Arial"/>
              </a:rPr>
              <a:t>Team and Contact Details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25CA8E-9F03-499C-B8A4-EE2147227DB5}"/>
              </a:ext>
            </a:extLst>
          </p:cNvPr>
          <p:cNvSpPr txBox="1"/>
          <p:nvPr/>
        </p:nvSpPr>
        <p:spPr>
          <a:xfrm>
            <a:off x="363380" y="1232555"/>
            <a:ext cx="3971925" cy="492443"/>
          </a:xfrm>
          <a:prstGeom prst="rect">
            <a:avLst/>
          </a:prstGeom>
          <a:ln>
            <a:noFill/>
          </a:ln>
        </p:spPr>
        <p:txBody>
          <a:bodyPr vert="horz" wrap="square" lIns="0" tIns="91440" rIns="0" bIns="91440" rtlCol="0" anchor="t">
            <a:spAutoFit/>
          </a:bodyPr>
          <a:lstStyle>
            <a:defPPr>
              <a:defRPr lang="en-US"/>
            </a:defPPr>
            <a:lvl1pPr marL="297815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§"/>
              <a:tabLst>
                <a:tab pos="174625" algn="l"/>
              </a:tabLst>
              <a:defRPr spc="10">
                <a:solidFill>
                  <a:srgbClr val="1F396C"/>
                </a:solidFill>
              </a:defRPr>
            </a:lvl1pPr>
            <a:lvl2pPr marL="755015" lvl="1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Ø"/>
              <a:tabLst>
                <a:tab pos="174625" algn="l"/>
              </a:tabLst>
              <a:defRPr spc="10">
                <a:solidFill>
                  <a:srgbClr val="1F396C"/>
                </a:solidFill>
                <a:cs typeface="Calibri" panose="020F0502020204030204"/>
              </a:defRPr>
            </a:lvl2pPr>
          </a:lstStyle>
          <a:p>
            <a:pPr marL="12065" indent="0">
              <a:buNone/>
            </a:pPr>
            <a:r>
              <a:rPr lang="en-US" sz="2000" b="1" dirty="0">
                <a:cs typeface="Arial MT"/>
              </a:rPr>
              <a:t>Team Leaders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102FFF-239D-437D-8C1B-42205682561D}"/>
              </a:ext>
            </a:extLst>
          </p:cNvPr>
          <p:cNvSpPr txBox="1"/>
          <p:nvPr/>
        </p:nvSpPr>
        <p:spPr>
          <a:xfrm>
            <a:off x="363380" y="5434331"/>
            <a:ext cx="3971925" cy="492443"/>
          </a:xfrm>
          <a:prstGeom prst="rect">
            <a:avLst/>
          </a:prstGeom>
          <a:ln>
            <a:noFill/>
          </a:ln>
        </p:spPr>
        <p:txBody>
          <a:bodyPr vert="horz" wrap="square" lIns="0" tIns="91440" rIns="0" bIns="91440" rtlCol="0" anchor="t">
            <a:spAutoFit/>
          </a:bodyPr>
          <a:lstStyle>
            <a:defPPr>
              <a:defRPr lang="en-US"/>
            </a:defPPr>
            <a:lvl1pPr marL="297815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§"/>
              <a:tabLst>
                <a:tab pos="174625" algn="l"/>
              </a:tabLst>
              <a:defRPr spc="10">
                <a:solidFill>
                  <a:srgbClr val="1F396C"/>
                </a:solidFill>
              </a:defRPr>
            </a:lvl1pPr>
            <a:lvl2pPr marL="755015" lvl="1" indent="-285750">
              <a:spcBef>
                <a:spcPts val="710"/>
              </a:spcBef>
              <a:buClr>
                <a:srgbClr val="2C4A6E"/>
              </a:buClr>
              <a:buFont typeface="Wingdings" panose="05000000000000000000" pitchFamily="2" charset="2"/>
              <a:buChar char="Ø"/>
              <a:tabLst>
                <a:tab pos="174625" algn="l"/>
              </a:tabLst>
              <a:defRPr spc="10">
                <a:solidFill>
                  <a:srgbClr val="1F396C"/>
                </a:solidFill>
                <a:cs typeface="Calibri" panose="020F0502020204030204"/>
              </a:defRPr>
            </a:lvl2pPr>
          </a:lstStyle>
          <a:p>
            <a:pPr marL="12065" indent="0">
              <a:buNone/>
            </a:pPr>
            <a:r>
              <a:rPr lang="en-US" sz="2000" b="1" dirty="0">
                <a:cs typeface="Arial MT"/>
              </a:rPr>
              <a:t>Contact Details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CECCD3-E9B0-4B35-85FB-1623049DF03A}"/>
              </a:ext>
            </a:extLst>
          </p:cNvPr>
          <p:cNvCxnSpPr>
            <a:cxnSpLocks/>
          </p:cNvCxnSpPr>
          <p:nvPr/>
        </p:nvCxnSpPr>
        <p:spPr>
          <a:xfrm>
            <a:off x="396813" y="5225243"/>
            <a:ext cx="6141933" cy="0"/>
          </a:xfrm>
          <a:prstGeom prst="line">
            <a:avLst/>
          </a:prstGeom>
          <a:ln w="22225">
            <a:solidFill>
              <a:srgbClr val="2539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30106A9-BEBD-4B60-A696-77DDDA7899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13" y="1826215"/>
            <a:ext cx="1165637" cy="1298448"/>
          </a:xfrm>
          <a:prstGeom prst="rect">
            <a:avLst/>
          </a:prstGeom>
        </p:spPr>
      </p:pic>
      <p:sp>
        <p:nvSpPr>
          <p:cNvPr id="11" name="object 6">
            <a:extLst>
              <a:ext uri="{FF2B5EF4-FFF2-40B4-BE49-F238E27FC236}">
                <a16:creationId xmlns:a16="http://schemas.microsoft.com/office/drawing/2014/main" id="{799ABC55-9626-4AAC-8053-D9D4CB5377BF}"/>
              </a:ext>
            </a:extLst>
          </p:cNvPr>
          <p:cNvSpPr txBox="1"/>
          <p:nvPr/>
        </p:nvSpPr>
        <p:spPr>
          <a:xfrm>
            <a:off x="1835330" y="1766511"/>
            <a:ext cx="4659290" cy="12984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b="1" spc="10" dirty="0">
                <a:solidFill>
                  <a:srgbClr val="1F396C"/>
                </a:solidFill>
                <a:cs typeface="Arial MT"/>
              </a:rPr>
              <a:t>Ami Chauhan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Ami leads the audit and MIS vertical in the firm. She is a CA having over 7 years of experience of serving clients from small medium business to listed companies.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6BC433-A65B-4574-B877-1CC9B9E763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3" t="8468" r="25906" b="30464"/>
          <a:stretch/>
        </p:blipFill>
        <p:spPr>
          <a:xfrm flipH="1">
            <a:off x="396813" y="3515042"/>
            <a:ext cx="1165638" cy="1298448"/>
          </a:xfrm>
          <a:prstGeom prst="rect">
            <a:avLst/>
          </a:prstGeom>
        </p:spPr>
      </p:pic>
      <p:sp>
        <p:nvSpPr>
          <p:cNvPr id="14" name="object 6">
            <a:extLst>
              <a:ext uri="{FF2B5EF4-FFF2-40B4-BE49-F238E27FC236}">
                <a16:creationId xmlns:a16="http://schemas.microsoft.com/office/drawing/2014/main" id="{02A5CB70-B7FF-408C-8B94-5BA42FB4E68E}"/>
              </a:ext>
            </a:extLst>
          </p:cNvPr>
          <p:cNvSpPr txBox="1"/>
          <p:nvPr/>
        </p:nvSpPr>
        <p:spPr>
          <a:xfrm>
            <a:off x="1835330" y="3518117"/>
            <a:ext cx="4659290" cy="12984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b="1" spc="10" dirty="0">
                <a:solidFill>
                  <a:srgbClr val="1F396C"/>
                </a:solidFill>
                <a:cs typeface="Arial MT"/>
              </a:rPr>
              <a:t>Binal Darji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Binal leads the tax team in the firm. She is a practicing CA having over 15 years of experience.</a:t>
            </a: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84AC9902-1E67-4B56-8714-1F6A6D454E38}"/>
              </a:ext>
            </a:extLst>
          </p:cNvPr>
          <p:cNvSpPr txBox="1"/>
          <p:nvPr/>
        </p:nvSpPr>
        <p:spPr>
          <a:xfrm>
            <a:off x="363380" y="5911175"/>
            <a:ext cx="6131240" cy="24025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SPOC: Kevin Darji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Phone: +91 9833 489 346 | +1 (470) 407 9621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Email: </a:t>
            </a:r>
            <a:r>
              <a:rPr lang="en-US" spc="10" dirty="0">
                <a:solidFill>
                  <a:srgbClr val="1F396C"/>
                </a:solidFill>
                <a:cs typeface="Arial MT"/>
                <a:hlinkClick r:id="rId4"/>
              </a:rPr>
              <a:t>kevin@omneyservices.com</a:t>
            </a:r>
            <a:endParaRPr lang="en-US" spc="10" dirty="0">
              <a:solidFill>
                <a:srgbClr val="1F396C"/>
              </a:solidFill>
              <a:cs typeface="Arial MT"/>
            </a:endParaRP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Address: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Office No. 2, 2</a:t>
            </a:r>
            <a:r>
              <a:rPr lang="en-US" spc="10" baseline="30000" dirty="0">
                <a:solidFill>
                  <a:srgbClr val="1F396C"/>
                </a:solidFill>
                <a:cs typeface="Arial MT"/>
              </a:rPr>
              <a:t>nd</a:t>
            </a:r>
            <a:r>
              <a:rPr lang="en-US" spc="10" dirty="0">
                <a:solidFill>
                  <a:srgbClr val="1F396C"/>
                </a:solidFill>
                <a:cs typeface="Arial MT"/>
              </a:rPr>
              <a:t> Floor, Shantinath Shopping Centre, S V Road, Malad West, Mumbai – 400064, India.</a:t>
            </a:r>
          </a:p>
          <a:p>
            <a:pPr marL="12065" algn="just">
              <a:spcBef>
                <a:spcPts val="710"/>
              </a:spcBef>
              <a:buClr>
                <a:srgbClr val="2C4A6E"/>
              </a:buClr>
              <a:tabLst>
                <a:tab pos="174625" algn="l"/>
              </a:tabLst>
            </a:pPr>
            <a:r>
              <a:rPr lang="en-US" spc="10" dirty="0">
                <a:solidFill>
                  <a:srgbClr val="1F396C"/>
                </a:solidFill>
                <a:cs typeface="Arial MT"/>
              </a:rPr>
              <a:t>8735 Dunwoody Place, Atlanta, GA 30350, USA.</a:t>
            </a:r>
          </a:p>
        </p:txBody>
      </p:sp>
    </p:spTree>
    <p:extLst>
      <p:ext uri="{BB962C8B-B14F-4D97-AF65-F5344CB8AC3E}">
        <p14:creationId xmlns:p14="http://schemas.microsoft.com/office/powerpoint/2010/main" val="31882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ab180f-6e86-4893-9f13-a52dcd8b6a2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44F45ACAC0CA46991E6463F1951CFA" ma:contentTypeVersion="15" ma:contentTypeDescription="Create a new document." ma:contentTypeScope="" ma:versionID="d4bc1b3cbb802569fed1f78bc76bf0db">
  <xsd:schema xmlns:xsd="http://www.w3.org/2001/XMLSchema" xmlns:xs="http://www.w3.org/2001/XMLSchema" xmlns:p="http://schemas.microsoft.com/office/2006/metadata/properties" xmlns:ns3="a0ab180f-6e86-4893-9f13-a52dcd8b6a25" xmlns:ns4="5df1b916-2f93-432f-ab78-896420332a07" targetNamespace="http://schemas.microsoft.com/office/2006/metadata/properties" ma:root="true" ma:fieldsID="6e63a59046d4a0fccd810ef928c92b81" ns3:_="" ns4:_="">
    <xsd:import namespace="a0ab180f-6e86-4893-9f13-a52dcd8b6a25"/>
    <xsd:import namespace="5df1b916-2f93-432f-ab78-896420332a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ab180f-6e86-4893-9f13-a52dcd8b6a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1b916-2f93-432f-ab78-896420332a07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ECE1E3-BE25-4A84-A489-5E3F3B715C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E70D4E-CDE4-4A55-8B87-BFF3937A57C2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a0ab180f-6e86-4893-9f13-a52dcd8b6a25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df1b916-2f93-432f-ab78-896420332a0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648D024-F996-45DC-9D1A-0FF88CA428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ab180f-6e86-4893-9f13-a52dcd8b6a25"/>
    <ds:schemaRef ds:uri="5df1b916-2f93-432f-ab78-896420332a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1045</TotalTime>
  <Words>548</Words>
  <Application>Microsoft Office PowerPoint</Application>
  <PresentationFormat>On-screen Show (4:3)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Omney CPA - Tax and accounting</dc:title>
  <dc:creator>Kevin Darji</dc:creator>
  <cp:lastModifiedBy>Kevin Darji</cp:lastModifiedBy>
  <cp:revision>32</cp:revision>
  <dcterms:created xsi:type="dcterms:W3CDTF">2023-05-01T09:10:09Z</dcterms:created>
  <dcterms:modified xsi:type="dcterms:W3CDTF">2025-08-12T10:50:39Z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0x0101004844F45ACAC0CA46991E6463F1951CFA</vt:lpwstr>
  </property>
</Properties>
</file>